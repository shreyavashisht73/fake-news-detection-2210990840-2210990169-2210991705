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4"/>
  </p:notesMasterIdLst>
  <p:handoutMasterIdLst>
    <p:handoutMasterId r:id="rId15"/>
  </p:handoutMasterIdLst>
  <p:sldIdLst>
    <p:sldId id="256" r:id="rId5"/>
    <p:sldId id="257" r:id="rId6"/>
    <p:sldId id="273" r:id="rId7"/>
    <p:sldId id="283" r:id="rId8"/>
    <p:sldId id="275" r:id="rId9"/>
    <p:sldId id="276" r:id="rId10"/>
    <p:sldId id="278" r:id="rId11"/>
    <p:sldId id="282" r:id="rId12"/>
    <p:sldId id="268" r:id="rId13"/>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42" y="3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3</a:t>
            </a:fld>
            <a:endParaRPr lang="en-US"/>
          </a:p>
        </p:txBody>
      </p:sp>
    </p:spTree>
    <p:extLst>
      <p:ext uri="{BB962C8B-B14F-4D97-AF65-F5344CB8AC3E}">
        <p14:creationId xmlns:p14="http://schemas.microsoft.com/office/powerpoint/2010/main" val="213678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US"/>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t>5/17/2026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717485"/>
          </a:xfrm>
          <a:prstGeom prst="rect">
            <a:avLst/>
          </a:prstGeom>
          <a:noFill/>
          <a:ln w="9360">
            <a:noFill/>
          </a:ln>
        </p:spPr>
        <p:txBody>
          <a:bodyPr>
            <a:noAutofit/>
          </a:bodyPr>
          <a:lstStyle/>
          <a:p>
            <a:pPr algn="ctr">
              <a:lnSpc>
                <a:spcPct val="100000"/>
              </a:lnSpc>
              <a:spcBef>
                <a:spcPts val="400"/>
              </a:spcBef>
            </a:pPr>
            <a:r>
              <a:rPr lang="en-IN"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dirty="0">
                <a:latin typeface="Times New Roman" panose="02020603050405020304" pitchFamily="18" charset="0"/>
                <a:ea typeface="Calibri" panose="020F0502020204030204" pitchFamily="34" charset="0"/>
                <a:cs typeface="Times New Roman" panose="02020603050405020304" pitchFamily="18" charset="0"/>
              </a:rPr>
              <a:t>22CS422)</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US" sz="3200" b="1" dirty="0">
                <a:latin typeface="Times New Roman" panose="02020603050405020304" pitchFamily="18" charset="0"/>
                <a:cs typeface="Times New Roman" panose="02020603050405020304" pitchFamily="18" charset="0"/>
              </a:rPr>
              <a:t>Fake News Detection </a:t>
            </a:r>
          </a:p>
          <a:p>
            <a:pPr algn="ctr">
              <a:spcBef>
                <a:spcPts val="400"/>
              </a:spcBef>
            </a:pPr>
            <a:endParaRPr lang="en-US" sz="3200" b="1" dirty="0">
              <a:latin typeface="Times New Roman" panose="02020603050405020304" pitchFamily="18" charset="0"/>
              <a:cs typeface="Times New Roman" panose="02020603050405020304" pitchFamily="18" charset="0"/>
            </a:endParaRPr>
          </a:p>
          <a:p>
            <a:pPr algn="ctr">
              <a:spcBef>
                <a:spcPts val="400"/>
              </a:spcBef>
            </a:pPr>
            <a:r>
              <a:rPr lang="en-US" sz="2000" b="1" spc="-1" dirty="0">
                <a:solidFill>
                  <a:srgbClr val="000000"/>
                </a:solidFill>
                <a:latin typeface="Times New Roman" panose="02020603050405020304" pitchFamily="18" charset="0"/>
                <a:ea typeface="MS PGothic"/>
                <a:cs typeface="Times New Roman" panose="02020603050405020304" pitchFamily="18" charset="0"/>
              </a:rPr>
              <a:t>Submitted by </a:t>
            </a:r>
            <a:br>
              <a:rPr lang="en-US" sz="2000"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Shreya Vashisht(2210990840), Jassika(2210991705</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t>
            </a:r>
            <a:r>
              <a:rPr lang="en-US" sz="2000" spc="-1" dirty="0">
                <a:solidFill>
                  <a:srgbClr val="000000"/>
                </a:solidFill>
                <a:latin typeface="Times New Roman" panose="02020603050405020304" pitchFamily="18" charset="0"/>
                <a:ea typeface="MS PGothic"/>
                <a:cs typeface="Times New Roman" panose="02020603050405020304" pitchFamily="18" charset="0"/>
              </a:rPr>
              <a:t>, </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Arshdeep Kaur-(2210990169)</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b="1"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Monika </a:t>
            </a:r>
          </a:p>
          <a:p>
            <a:pPr algn="ctr">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1" dirty="0">
                <a:latin typeface="Times New Roman" panose="02020603050405020304" pitchFamily="18" charset="0"/>
                <a:cs typeface="Times New Roman" panose="02020603050405020304" pitchFamily="18" charset="0"/>
              </a:rPr>
              <a:t>Introduction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52640" y="1009714"/>
            <a:ext cx="8838720" cy="4838571"/>
          </a:xfrm>
          <a:prstGeom prst="rect">
            <a:avLst/>
          </a:prstGeom>
          <a:noFill/>
          <a:ln w="9360">
            <a:noFill/>
          </a:ln>
        </p:spPr>
        <p:txBody>
          <a:bodyPr>
            <a:noAutofit/>
          </a:bodyPr>
          <a:lstStyle/>
          <a:p>
            <a:pPr lvl="0" eaLnBrk="0" fontAlgn="base" hangingPunct="0">
              <a:spcBef>
                <a:spcPct val="0"/>
              </a:spcBef>
              <a:spcAft>
                <a:spcPct val="0"/>
              </a:spcAft>
            </a:pPr>
            <a:endParaRPr lang="en-US" altLang="en-US" dirty="0">
              <a:latin typeface="Arial" panose="020B0604020202020204" pitchFamily="34" charset="0"/>
            </a:endParaRPr>
          </a:p>
        </p:txBody>
      </p:sp>
      <p:sp>
        <p:nvSpPr>
          <p:cNvPr id="3" name="Rectangle 2">
            <a:extLst>
              <a:ext uri="{FF2B5EF4-FFF2-40B4-BE49-F238E27FC236}">
                <a16:creationId xmlns:a16="http://schemas.microsoft.com/office/drawing/2014/main" id="{2730FC30-23FA-E773-5512-D8A45DEB212B}"/>
              </a:ext>
            </a:extLst>
          </p:cNvPr>
          <p:cNvSpPr>
            <a:spLocks noChangeArrowheads="1"/>
          </p:cNvSpPr>
          <p:nvPr/>
        </p:nvSpPr>
        <p:spPr bwMode="auto">
          <a:xfrm>
            <a:off x="0" y="1058112"/>
            <a:ext cx="883872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rapid growth of social media and online platforms has made information easily accessible, but it has also increased the spread of fake news.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latin typeface="Times New Roman" panose="02020603050405020304" pitchFamily="18" charset="0"/>
                <a:cs typeface="Times New Roman" panose="02020603050405020304" pitchFamily="18" charset="0"/>
              </a:rPr>
              <a:t>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ake news refers to false or misleading information presented as real news, which can influence public opinion and decision-making.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fact-checking methods are slow and cannot keep up with the huge volume of online content.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proposes a machine learning and NLP-based system integrated with Media API </a:t>
            </a:r>
            <a:r>
              <a:rPr lang="en-US" altLang="en-US" sz="2000" dirty="0">
                <a:latin typeface="Times New Roman" panose="02020603050405020304" pitchFamily="18" charset="0"/>
                <a:cs typeface="Times New Roman" panose="02020603050405020304" pitchFamily="18" charset="0"/>
              </a:rPr>
              <a:t>for real-time fake news detection.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analyzes textual content and uses Media API</a:t>
            </a:r>
            <a:r>
              <a:rPr lang="en-US" altLang="en-US" sz="2000" dirty="0">
                <a:latin typeface="Times New Roman" panose="02020603050405020304" pitchFamily="18" charset="0"/>
                <a:cs typeface="Times New Roman" panose="02020603050405020304" pitchFamily="18" charset="0"/>
              </a:rPr>
              <a:t> for real-time news retrieval and validation to improve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fake news detection accuracy.</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latin typeface="Times New Roman" panose="02020603050405020304" pitchFamily="18" charset="0"/>
                <a:cs typeface="Times New Roman" panose="02020603050405020304" pitchFamily="18" charset="0"/>
              </a:rPr>
              <a:t>Media API integration enables real-time news fetching and validation from online sources.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AB4EF-795F-9A74-6F47-D29B92522C6D}"/>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D014B850-2243-43A8-604F-C6CA1FC46C7E}"/>
              </a:ext>
            </a:extLst>
          </p:cNvPr>
          <p:cNvSpPr txBox="1"/>
          <p:nvPr/>
        </p:nvSpPr>
        <p:spPr>
          <a:xfrm>
            <a:off x="272627" y="0"/>
            <a:ext cx="6019560" cy="837720"/>
          </a:xfrm>
          <a:prstGeom prst="rect">
            <a:avLst/>
          </a:prstGeom>
          <a:noFill/>
          <a:ln w="9360">
            <a:noFill/>
          </a:ln>
        </p:spPr>
        <p:txBody>
          <a:bodyPr anchor="ctr">
            <a:noAutofit/>
          </a:bodyPr>
          <a:lstStyle/>
          <a:p>
            <a:pPr algn="ctr">
              <a:lnSpc>
                <a:spcPct val="100000"/>
              </a:lnSpc>
            </a:pPr>
            <a:r>
              <a:rPr lang="en" sz="3200" b="1" dirty="0">
                <a:latin typeface="Times New Roman" panose="02020603050405020304" pitchFamily="18" charset="0"/>
                <a:cs typeface="Times New Roman" panose="02020603050405020304" pitchFamily="18" charset="0"/>
              </a:rPr>
              <a:t>Problem Definition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F8B5B37-8682-F329-1D28-E2D16595D0CA}"/>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3E2D20EC-90E0-1575-56D1-0F059C546515}"/>
              </a:ext>
            </a:extLst>
          </p:cNvPr>
          <p:cNvSpPr txBox="1"/>
          <p:nvPr/>
        </p:nvSpPr>
        <p:spPr>
          <a:xfrm>
            <a:off x="76320" y="919129"/>
            <a:ext cx="8991360" cy="5802071"/>
          </a:xfrm>
          <a:prstGeom prst="rect">
            <a:avLst/>
          </a:prstGeom>
          <a:noFill/>
          <a:ln w="9360">
            <a:noFill/>
          </a:ln>
        </p:spPr>
        <p:txBody>
          <a:bodyPr>
            <a:noAutofit/>
          </a:bodyPr>
          <a:lstStyle/>
          <a:p>
            <a:pPr lvl="0" eaLnBrk="0" fontAlgn="base" hangingPunct="0">
              <a:spcBef>
                <a:spcPct val="0"/>
              </a:spcBef>
              <a:spcAft>
                <a:spcPct val="0"/>
              </a:spcAft>
            </a:pPr>
            <a:endParaRPr lang="en-US" altLang="en-US" dirty="0">
              <a:latin typeface="Arial" panose="020B0604020202020204" pitchFamily="34" charset="0"/>
            </a:endParaRPr>
          </a:p>
          <a:p>
            <a:r>
              <a:rPr lang="en-US" sz="2400" dirty="0">
                <a:latin typeface="Times New Roman" panose="02020603050405020304" pitchFamily="18" charset="0"/>
                <a:cs typeface="Times New Roman" panose="02020603050405020304" pitchFamily="18" charset="0"/>
              </a:rPr>
              <a:t>The main problem addressed in this project is the rapid spread of fake news on digital platforms. With so much information available online, it becomes very difficult for users to differentiate between real and fake content.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Traditional fact-checking methods rely on human effort, which is slow and cannot handle the huge volume of data generated every day.</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Therefore, there is a strong need for an automated system that can efficiently analyze news content, classify it as real or fake, and validate real-time news using Media API integration.</a:t>
            </a:r>
          </a:p>
          <a:p>
            <a:pPr lvl="0" eaLnBrk="0" fontAlgn="base" hangingPunct="0">
              <a:spcBef>
                <a:spcPct val="0"/>
              </a:spcBef>
              <a:spcAft>
                <a:spcPct val="0"/>
              </a:spcAft>
            </a:pPr>
            <a:endParaRPr lang="en-US" altLang="en-US" dirty="0">
              <a:latin typeface="Arial" panose="020B0604020202020204" pitchFamily="34"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305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A4298-DD89-8B18-2362-DFDFAE1FFBBD}"/>
              </a:ext>
            </a:extLst>
          </p:cNvPr>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Proposed Solution</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092DC2D-CAA1-7739-D3F5-82F0FCCC0218}"/>
              </a:ext>
            </a:extLst>
          </p:cNvPr>
          <p:cNvSpPr>
            <a:spLocks noGrp="1"/>
          </p:cNvSpPr>
          <p:nvPr>
            <p:ph type="subTitle"/>
          </p:nvPr>
        </p:nvSpPr>
        <p:spPr>
          <a:xfrm>
            <a:off x="155111" y="3429000"/>
            <a:ext cx="8593395" cy="599768"/>
          </a:xfrm>
        </p:spPr>
        <p:txBody>
          <a:bodyPr/>
          <a:lstStyle/>
          <a:p>
            <a:pPr algn="just"/>
            <a:r>
              <a:rPr lang="en-US" sz="2400" dirty="0">
                <a:latin typeface="Times New Roman" panose="02020603050405020304" pitchFamily="18" charset="0"/>
                <a:cs typeface="Times New Roman" panose="02020603050405020304" pitchFamily="18" charset="0"/>
              </a:rPr>
              <a:t>To address the problem, we propose a machine learning-based fake news detection system integrated with Media API for real-time news retrieval and validation.</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system uses Natural Language Processing techniques to analyze the textual news content, Real-time news data is retrieved using Media API, preprocessed, and converted into numerical form using TF-IDF vectorization.</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Then, machine learning algorithms like Logistic Regression and Naive Bayes are applied to classify the news as real or fake.</a:t>
            </a:r>
          </a:p>
          <a:p>
            <a:pPr algn="just"/>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system provides quick and reliable predictions by combining machine learning models with Media API-based real-time news validation.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8915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9D093-17A7-94AC-E622-C0D899424CEA}"/>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919E464A-3F40-EB6C-3F2B-1B394FBBFA62}"/>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spc="-1" dirty="0">
                <a:solidFill>
                  <a:srgbClr val="000000"/>
                </a:solidFill>
                <a:latin typeface="Times New Roman" panose="02020603050405020304" pitchFamily="18" charset="0"/>
                <a:cs typeface="Times New Roman" panose="02020603050405020304" pitchFamily="18" charset="0"/>
              </a:rPr>
              <a:t>Methodology &amp; Tools</a:t>
            </a:r>
          </a:p>
        </p:txBody>
      </p:sp>
      <p:sp>
        <p:nvSpPr>
          <p:cNvPr id="110" name="TextShape 3">
            <a:extLst>
              <a:ext uri="{FF2B5EF4-FFF2-40B4-BE49-F238E27FC236}">
                <a16:creationId xmlns:a16="http://schemas.microsoft.com/office/drawing/2014/main" id="{2667BE37-8A7C-3F9E-125C-E288458C044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481826F7-1060-D42D-5DCA-0A8469FE6F7E}"/>
              </a:ext>
            </a:extLst>
          </p:cNvPr>
          <p:cNvSpPr txBox="1"/>
          <p:nvPr/>
        </p:nvSpPr>
        <p:spPr>
          <a:xfrm>
            <a:off x="152640" y="908574"/>
            <a:ext cx="8838720" cy="5705060"/>
          </a:xfrm>
          <a:prstGeom prst="rect">
            <a:avLst/>
          </a:prstGeom>
          <a:noFill/>
          <a:ln w="9360">
            <a:noFill/>
          </a:ln>
        </p:spPr>
        <p:txBody>
          <a:bodyPr>
            <a:noAutofit/>
          </a:bodyPr>
          <a:lstStyle/>
          <a:p>
            <a:r>
              <a:rPr lang="en-US" sz="2400" b="1" dirty="0">
                <a:latin typeface="Times New Roman" panose="02020603050405020304" pitchFamily="18" charset="0"/>
                <a:cs typeface="Times New Roman" panose="02020603050405020304" pitchFamily="18" charset="0"/>
              </a:rPr>
              <a:t>Methodology:</a:t>
            </a:r>
          </a:p>
          <a:p>
            <a:r>
              <a:rPr lang="en-US" sz="2400" dirty="0">
                <a:latin typeface="Times New Roman" panose="02020603050405020304" pitchFamily="18" charset="0"/>
                <a:cs typeface="Times New Roman" panose="02020603050405020304" pitchFamily="18" charset="0"/>
              </a:rPr>
              <a:t>Data Collection (labeled news datasets and real-time news Using Media API) </a:t>
            </a:r>
          </a:p>
          <a:p>
            <a:r>
              <a:rPr lang="en-US" sz="2400" dirty="0">
                <a:latin typeface="Times New Roman" panose="02020603050405020304" pitchFamily="18" charset="0"/>
                <a:cs typeface="Times New Roman" panose="02020603050405020304" pitchFamily="18" charset="0"/>
              </a:rPr>
              <a:t>Data Preprocessing (cleaning, </a:t>
            </a:r>
            <a:r>
              <a:rPr lang="en-US" sz="2400" dirty="0" err="1">
                <a:latin typeface="Times New Roman" panose="02020603050405020304" pitchFamily="18" charset="0"/>
                <a:cs typeface="Times New Roman" panose="02020603050405020304" pitchFamily="18" charset="0"/>
              </a:rPr>
              <a:t>stopword</a:t>
            </a:r>
            <a:r>
              <a:rPr lang="en-US" sz="2400" dirty="0">
                <a:latin typeface="Times New Roman" panose="02020603050405020304" pitchFamily="18" charset="0"/>
                <a:cs typeface="Times New Roman" panose="02020603050405020304" pitchFamily="18" charset="0"/>
              </a:rPr>
              <a:t> removal) </a:t>
            </a:r>
          </a:p>
          <a:p>
            <a:r>
              <a:rPr lang="en-US" sz="2400" dirty="0">
                <a:latin typeface="Times New Roman" panose="02020603050405020304" pitchFamily="18" charset="0"/>
                <a:cs typeface="Times New Roman" panose="02020603050405020304" pitchFamily="18" charset="0"/>
              </a:rPr>
              <a:t>Feature Extraction using TF-IDF Vectorization </a:t>
            </a:r>
          </a:p>
          <a:p>
            <a:r>
              <a:rPr lang="en-US" sz="2400" dirty="0">
                <a:latin typeface="Times New Roman" panose="02020603050405020304" pitchFamily="18" charset="0"/>
                <a:cs typeface="Times New Roman" panose="02020603050405020304" pitchFamily="18" charset="0"/>
              </a:rPr>
              <a:t>Model Training (Logistic Regression, Naive Bayes)</a:t>
            </a:r>
          </a:p>
          <a:p>
            <a:r>
              <a:rPr lang="en-US" sz="2400" dirty="0">
                <a:latin typeface="Times New Roman" panose="02020603050405020304" pitchFamily="18" charset="0"/>
                <a:cs typeface="Times New Roman" panose="02020603050405020304" pitchFamily="18" charset="0"/>
              </a:rPr>
              <a:t>Real-Time News Validation using Media API </a:t>
            </a:r>
          </a:p>
          <a:p>
            <a:r>
              <a:rPr lang="en-US" sz="2400" dirty="0">
                <a:latin typeface="Times New Roman" panose="02020603050405020304" pitchFamily="18" charset="0"/>
                <a:cs typeface="Times New Roman" panose="02020603050405020304" pitchFamily="18" charset="0"/>
              </a:rPr>
              <a:t>Evaluation (Accuracy, Precision, Recall, F1-score) </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Tools &amp; Technologies:</a:t>
            </a:r>
          </a:p>
          <a:p>
            <a:r>
              <a:rPr lang="en-US" sz="2400" dirty="0">
                <a:latin typeface="Times New Roman" panose="02020603050405020304" pitchFamily="18" charset="0"/>
                <a:cs typeface="Times New Roman" panose="02020603050405020304" pitchFamily="18" charset="0"/>
              </a:rPr>
              <a:t>Python </a:t>
            </a:r>
          </a:p>
          <a:p>
            <a:r>
              <a:rPr lang="en-US" sz="2400" dirty="0">
                <a:latin typeface="Times New Roman" panose="02020603050405020304" pitchFamily="18" charset="0"/>
                <a:cs typeface="Times New Roman" panose="02020603050405020304" pitchFamily="18" charset="0"/>
              </a:rPr>
              <a:t>Scikit-learn, Pandas, NumPy, Media API</a:t>
            </a:r>
          </a:p>
          <a:p>
            <a:r>
              <a:rPr lang="en-US" sz="2400" dirty="0">
                <a:latin typeface="Times New Roman" panose="02020603050405020304" pitchFamily="18" charset="0"/>
                <a:cs typeface="Times New Roman" panose="02020603050405020304" pitchFamily="18" charset="0"/>
              </a:rPr>
              <a:t>NLTK (for NLP tasks) </a:t>
            </a:r>
          </a:p>
          <a:p>
            <a:r>
              <a:rPr lang="en-US" sz="2400" dirty="0" err="1">
                <a:latin typeface="Times New Roman" panose="02020603050405020304" pitchFamily="18" charset="0"/>
                <a:cs typeface="Times New Roman" panose="02020603050405020304" pitchFamily="18" charset="0"/>
              </a:rPr>
              <a:t>Jupyter</a:t>
            </a:r>
            <a:r>
              <a:rPr lang="en-US" sz="2400" dirty="0">
                <a:latin typeface="Times New Roman" panose="02020603050405020304" pitchFamily="18" charset="0"/>
                <a:cs typeface="Times New Roman" panose="02020603050405020304" pitchFamily="18" charset="0"/>
              </a:rPr>
              <a:t> Notebook / VS Code</a:t>
            </a:r>
          </a:p>
          <a:p>
            <a:r>
              <a:rPr lang="en-US" sz="2400" dirty="0">
                <a:latin typeface="Times New Roman" panose="02020603050405020304" pitchFamily="18" charset="0"/>
                <a:cs typeface="Times New Roman" panose="02020603050405020304" pitchFamily="18" charset="0"/>
              </a:rPr>
              <a:t>News API/Media API for real-time news retrieval</a:t>
            </a:r>
          </a:p>
          <a:p>
            <a:endParaRPr lang="en-US" dirty="0"/>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9927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A3B58-8976-6C96-DA77-F561D90511C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B4D0487E-30AC-F3C4-D580-7EAE47634177}"/>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spc="-1" dirty="0">
                <a:solidFill>
                  <a:srgbClr val="000000"/>
                </a:solidFill>
                <a:latin typeface="Times New Roman" panose="02020603050405020304" pitchFamily="18" charset="0"/>
                <a:cs typeface="Times New Roman" panose="02020603050405020304" pitchFamily="18" charset="0"/>
              </a:rPr>
              <a:t>Key Findings &amp; Outcomes</a:t>
            </a:r>
          </a:p>
        </p:txBody>
      </p:sp>
      <p:sp>
        <p:nvSpPr>
          <p:cNvPr id="110" name="TextShape 3">
            <a:extLst>
              <a:ext uri="{FF2B5EF4-FFF2-40B4-BE49-F238E27FC236}">
                <a16:creationId xmlns:a16="http://schemas.microsoft.com/office/drawing/2014/main" id="{6E6705E9-B744-EF42-9E78-62488F80184A}"/>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3B118A21-E647-9471-CD0D-06DEAC19389F}"/>
              </a:ext>
            </a:extLst>
          </p:cNvPr>
          <p:cNvSpPr txBox="1"/>
          <p:nvPr/>
        </p:nvSpPr>
        <p:spPr>
          <a:xfrm>
            <a:off x="152640" y="849657"/>
            <a:ext cx="8838720" cy="4838571"/>
          </a:xfrm>
          <a:prstGeom prst="rect">
            <a:avLst/>
          </a:prstGeom>
          <a:noFill/>
          <a:ln w="9360">
            <a:noFill/>
          </a:ln>
        </p:spPr>
        <p:txBody>
          <a:bodyPr>
            <a:noAutofit/>
          </a:bodyPr>
          <a:lstStyle/>
          <a:p>
            <a:endParaRPr lang="en-US" sz="20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683F068-3138-C975-C2E8-42BF4F05D938}"/>
              </a:ext>
            </a:extLst>
          </p:cNvPr>
          <p:cNvSpPr>
            <a:spLocks noChangeArrowheads="1"/>
          </p:cNvSpPr>
          <p:nvPr/>
        </p:nvSpPr>
        <p:spPr bwMode="auto">
          <a:xfrm>
            <a:off x="94593" y="1155189"/>
            <a:ext cx="9049407"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achine learning models effectively detect fake news </a:t>
            </a:r>
          </a:p>
          <a:p>
            <a:pPr marL="342900" indent="-342900" eaLnBrk="0" fontAlgn="base" hangingPunct="0">
              <a:spcBef>
                <a:spcPct val="0"/>
              </a:spcBef>
              <a:spcAft>
                <a:spcPct val="0"/>
              </a:spcAft>
              <a:buFont typeface="Arial" panose="020B0604020202020204" pitchFamily="34" charset="0"/>
              <a:buChar char="•"/>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 Regression achieved highest accuracy (~95%) </a:t>
            </a:r>
          </a:p>
          <a:p>
            <a:pPr marL="342900" indent="-342900" eaLnBrk="0" fontAlgn="base" hangingPunct="0">
              <a:spcBef>
                <a:spcPct val="0"/>
              </a:spcBef>
              <a:spcAft>
                <a:spcPct val="0"/>
              </a:spcAft>
              <a:buFont typeface="Arial" panose="020B0604020202020204" pitchFamily="34" charset="0"/>
              <a:buChar char="•"/>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TF-IDF proved efficient for feature extraction </a:t>
            </a:r>
          </a:p>
          <a:p>
            <a:pPr marL="342900" indent="-342900" eaLnBrk="0" fontAlgn="base" hangingPunct="0">
              <a:spcBef>
                <a:spcPct val="0"/>
              </a:spcBef>
              <a:spcAft>
                <a:spcPct val="0"/>
              </a:spcAft>
              <a:buFont typeface="Arial" panose="020B0604020202020204" pitchFamily="34" charset="0"/>
              <a:buChar char="•"/>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provides fast and reliable predictions using real-ti</a:t>
            </a:r>
            <a:r>
              <a:rPr lang="en-US" altLang="en-US" sz="2400" dirty="0">
                <a:latin typeface="Times New Roman" panose="02020603050405020304" pitchFamily="18" charset="0"/>
                <a:cs typeface="Times New Roman" panose="02020603050405020304" pitchFamily="18" charset="0"/>
              </a:rPr>
              <a:t>me              news validation through Media API</a:t>
            </a:r>
          </a:p>
          <a:p>
            <a:pPr marL="342900" indent="-342900" eaLnBrk="0" fontAlgn="base" hangingPunct="0">
              <a:spcBef>
                <a:spcPct val="0"/>
              </a:spcBef>
              <a:spcAft>
                <a:spcPct val="0"/>
              </a:spcAf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Media API integration improved real-time news verification capability</a:t>
            </a:r>
          </a:p>
          <a:p>
            <a:pPr marL="342900" indent="-342900" eaLnBrk="0" fontAlgn="base" hangingPunct="0">
              <a:spcBef>
                <a:spcPct val="0"/>
              </a:spcBef>
              <a:spcAft>
                <a:spcPct val="0"/>
              </a:spcAft>
              <a:buFont typeface="Arial" panose="020B0604020202020204" pitchFamily="34" charset="0"/>
              <a:buChar char="•"/>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Simple models performed well with low computational cost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4026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C0166-85EA-B9B7-BC22-2058CCC5791C}"/>
              </a:ext>
            </a:extLst>
          </p:cNvPr>
          <p:cNvSpPr>
            <a:spLocks noGrp="1"/>
          </p:cNvSpPr>
          <p:nvPr>
            <p:ph type="title"/>
          </p:nvPr>
        </p:nvSpPr>
        <p:spPr/>
        <p:txBody>
          <a:bodyPr/>
          <a:lstStyle/>
          <a:p>
            <a:pPr algn="ctr"/>
            <a:r>
              <a:rPr lang="en-IN" sz="3200" b="1" dirty="0">
                <a:latin typeface="Times New Roman" panose="02020603050405020304" pitchFamily="18" charset="0"/>
                <a:cs typeface="Times New Roman" panose="02020603050405020304" pitchFamily="18" charset="0"/>
              </a:rPr>
              <a:t>Research Objectives</a:t>
            </a:r>
            <a:r>
              <a:rPr lang="en-IN" sz="3200" dirty="0"/>
              <a:t>	</a:t>
            </a:r>
            <a:endParaRPr lang="en-US" sz="32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DC7AF773-3970-5A56-9287-18F7157FBD52}"/>
              </a:ext>
            </a:extLst>
          </p:cNvPr>
          <p:cNvSpPr>
            <a:spLocks noChangeArrowheads="1"/>
          </p:cNvSpPr>
          <p:nvPr/>
        </p:nvSpPr>
        <p:spPr bwMode="auto">
          <a:xfrm>
            <a:off x="86711" y="557638"/>
            <a:ext cx="8213834"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an automated fake news detection system using Machine learning and Media API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NLP techniques for text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TF-IDF for effective feature extraction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models (Logistic Regression, Naive Bayes)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model performance using accuracy, precision, recall, and F1-Score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Times New Roman" panose="02020603050405020304" pitchFamily="18" charset="0"/>
                <a:cs typeface="Times New Roman" panose="02020603050405020304" pitchFamily="18" charset="0"/>
              </a:rPr>
              <a:t>Integrate Media API for real-time news retrieval and validation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E2F312CC-B202-0281-1BCE-0BE84F0A57FE}"/>
              </a:ext>
            </a:extLst>
          </p:cNvPr>
          <p:cNvSpPr>
            <a:spLocks noGrp="1"/>
          </p:cNvSpPr>
          <p:nvPr>
            <p:ph type="title"/>
          </p:nvPr>
        </p:nvSpPr>
        <p:spPr>
          <a:xfrm flipV="1">
            <a:off x="462296" y="1100776"/>
            <a:ext cx="5486040" cy="1388806"/>
          </a:xfrm>
        </p:spPr>
        <p:txBody>
          <a:bodyPr/>
          <a:lstStyle/>
          <a:p>
            <a:r>
              <a:rPr lang="en-US" dirty="0"/>
              <a:t>  </a:t>
            </a:r>
          </a:p>
        </p:txBody>
      </p:sp>
    </p:spTree>
    <p:extLst>
      <p:ext uri="{BB962C8B-B14F-4D97-AF65-F5344CB8AC3E}">
        <p14:creationId xmlns:p14="http://schemas.microsoft.com/office/powerpoint/2010/main" val="986373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8E16B-EE54-A5AB-2961-F0B843CBE770}"/>
              </a:ext>
            </a:extLst>
          </p:cNvPr>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Conclusion &amp; Future Scope</a:t>
            </a:r>
          </a:p>
        </p:txBody>
      </p:sp>
      <p:sp>
        <p:nvSpPr>
          <p:cNvPr id="4" name="Rectangle 1">
            <a:extLst>
              <a:ext uri="{FF2B5EF4-FFF2-40B4-BE49-F238E27FC236}">
                <a16:creationId xmlns:a16="http://schemas.microsoft.com/office/drawing/2014/main" id="{793D6562-3A2C-1631-9A4F-09B44F366EFB}"/>
              </a:ext>
            </a:extLst>
          </p:cNvPr>
          <p:cNvSpPr>
            <a:spLocks noGrp="1" noChangeArrowheads="1"/>
          </p:cNvSpPr>
          <p:nvPr>
            <p:ph type="subTitle"/>
          </p:nvPr>
        </p:nvSpPr>
        <p:spPr bwMode="auto">
          <a:xfrm>
            <a:off x="118240" y="1471467"/>
            <a:ext cx="8836573"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lnSpc>
                <a:spcPct val="150000"/>
              </a:lnSpc>
              <a:spcAft>
                <a:spcPct val="0"/>
              </a:spcAft>
            </a:pPr>
            <a:r>
              <a:rPr lang="en-US" altLang="en-US" sz="2000" dirty="0">
                <a:latin typeface="Times New Roman" panose="02020603050405020304" pitchFamily="18" charset="0"/>
                <a:cs typeface="Times New Roman" panose="02020603050405020304" pitchFamily="18" charset="0"/>
              </a:rPr>
              <a:t>In conclusion, our project demonstrates that machine learning, natural language processing, and Media API integration can effectively detect fake news and validate real-time news content. The system achieved high accuracy and provides fast, reliable, and real-time predictions using Media API validation.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also simple to implement and scalable for practical use. For future work, we can enhance the system by using advanced deep learning models like LSTM and transformers. We can also expand the dataset by including multiple sources and languages. </a:t>
            </a:r>
            <a:r>
              <a:rPr lang="en-US" altLang="en-US" sz="2000" dirty="0">
                <a:latin typeface="Times New Roman" panose="02020603050405020304" pitchFamily="18" charset="0"/>
                <a:cs typeface="Times New Roman" panose="02020603050405020304" pitchFamily="18" charset="0"/>
              </a:rPr>
              <a:t>Additionally, expanding Media API integration and incorporating real-time social media analysis can make the system more powerful and effective in real-world scenarios.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9955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schemas.microsoft.com/office/2006/documentManagement/types"/>
    <ds:schemaRef ds:uri="http://schemas.openxmlformats.org/package/2006/metadata/core-properties"/>
    <ds:schemaRef ds:uri="http://schemas.microsoft.com/office/2006/metadata/properties"/>
    <ds:schemaRef ds:uri="http://purl.org/dc/terms/"/>
    <ds:schemaRef ds:uri="http://purl.org/dc/elements/1.1/"/>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35110</TotalTime>
  <Words>722</Words>
  <Application>Microsoft Office PowerPoint</Application>
  <PresentationFormat>On-screen Show (4:3)</PresentationFormat>
  <Paragraphs>86</Paragraphs>
  <Slides>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PowerPoint Presentation</vt:lpstr>
      <vt:lpstr>PowerPoint Presentation</vt:lpstr>
      <vt:lpstr>PowerPoint Presentation</vt:lpstr>
      <vt:lpstr>Proposed Solution</vt:lpstr>
      <vt:lpstr>PowerPoint Presentation</vt:lpstr>
      <vt:lpstr>PowerPoint Presentation</vt:lpstr>
      <vt:lpstr>Research Objectives </vt:lpstr>
      <vt:lpstr>Conclusion &amp; Future Scope</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Arshdeep Kaur</cp:lastModifiedBy>
  <cp:revision>2309</cp:revision>
  <dcterms:created xsi:type="dcterms:W3CDTF">2010-04-09T07:36:15Z</dcterms:created>
  <dcterms:modified xsi:type="dcterms:W3CDTF">2026-05-17T15:50:37Z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