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4"/>
  </p:notesMasterIdLst>
  <p:handoutMasterIdLst>
    <p:handoutMasterId r:id="rId15"/>
  </p:handoutMasterIdLst>
  <p:sldIdLst>
    <p:sldId id="256" r:id="rId5"/>
    <p:sldId id="257" r:id="rId6"/>
    <p:sldId id="273" r:id="rId7"/>
    <p:sldId id="283" r:id="rId8"/>
    <p:sldId id="275" r:id="rId9"/>
    <p:sldId id="276" r:id="rId10"/>
    <p:sldId id="278" r:id="rId11"/>
    <p:sldId id="282" r:id="rId12"/>
    <p:sldId id="268" r:id="rId13"/>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1594" y="43"/>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607C9A-EDB5-4C0A-BCFE-81AAF6133E68}"/>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4F00B0C-2831-4624-A5D3-43F42D30BA74}"/>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pPr/>
              <a:t>4/26/2026</a:t>
            </a:fld>
            <a:endParaRPr lang="en-US"/>
          </a:p>
        </p:txBody>
      </p:sp>
      <p:sp>
        <p:nvSpPr>
          <p:cNvPr id="4" name="Footer Placeholder 3">
            <a:extLst>
              <a:ext uri="{FF2B5EF4-FFF2-40B4-BE49-F238E27FC236}">
                <a16:creationId xmlns:a16="http://schemas.microsoft.com/office/drawing/2014/main" id="{B334ABA9-0C2F-480A-B554-A457296C39B5}"/>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5" name="Slide Number Placeholder 4">
            <a:extLst>
              <a:ext uri="{FF2B5EF4-FFF2-40B4-BE49-F238E27FC236}">
                <a16:creationId xmlns:a16="http://schemas.microsoft.com/office/drawing/2014/main" id="{46F3BA01-5457-4975-8BF5-D0EAD49D534B}"/>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pPr/>
              <a:t>‹#›</a:t>
            </a:fld>
            <a:endParaRPr lang="en-US"/>
          </a:p>
        </p:txBody>
      </p:sp>
    </p:spTree>
    <p:extLst>
      <p:ext uri="{BB962C8B-B14F-4D97-AF65-F5344CB8AC3E}">
        <p14:creationId xmlns:p14="http://schemas.microsoft.com/office/powerpoint/2010/main" val="412300227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pPr/>
              <a:t>4/26/2026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pPr/>
              <a:t>‹#›</a:t>
            </a:fld>
            <a:endParaRPr lang="en-US"/>
          </a:p>
        </p:txBody>
      </p:sp>
    </p:spTree>
    <p:extLst>
      <p:ext uri="{BB962C8B-B14F-4D97-AF65-F5344CB8AC3E}">
        <p14:creationId xmlns:p14="http://schemas.microsoft.com/office/powerpoint/2010/main" val="3458122221"/>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pPr/>
              <a:t>1</a:t>
            </a:fld>
            <a:endParaRPr lang="en-US"/>
          </a:p>
        </p:txBody>
      </p:sp>
      <p:sp>
        <p:nvSpPr>
          <p:cNvPr id="5" name="Footer Placeholder 4">
            <a:extLst>
              <a:ext uri="{FF2B5EF4-FFF2-40B4-BE49-F238E27FC236}">
                <a16:creationId xmlns:a16="http://schemas.microsoft.com/office/drawing/2014/main" id="{A599BB95-9755-4BC6-8051-C2B8CF54F2A1}"/>
              </a:ext>
            </a:extLst>
          </p:cNvPr>
          <p:cNvSpPr>
            <a:spLocks noGrp="1"/>
          </p:cNvSpPr>
          <p:nvPr>
            <p:ph type="ftr" sz="quarter" idx="4"/>
          </p:nvPr>
        </p:nvSpPr>
        <p:spPr/>
        <p:txBody>
          <a:bodyPr/>
          <a:lstStyle/>
          <a:p>
            <a:r>
              <a:rPr lang="en-US"/>
              <a:t>Name of the faculty [Group: G00] [Sem:2nd]</a:t>
            </a:r>
          </a:p>
        </p:txBody>
      </p:sp>
    </p:spTree>
    <p:extLst>
      <p:ext uri="{BB962C8B-B14F-4D97-AF65-F5344CB8AC3E}">
        <p14:creationId xmlns:p14="http://schemas.microsoft.com/office/powerpoint/2010/main" val="42548747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Footer Placeholder 3"/>
          <p:cNvSpPr>
            <a:spLocks noGrp="1"/>
          </p:cNvSpPr>
          <p:nvPr>
            <p:ph type="ftr" sz="quarter" idx="4"/>
          </p:nvPr>
        </p:nvSpPr>
        <p:spPr/>
        <p:txBody>
          <a:bodyPr/>
          <a:lstStyle/>
          <a:p>
            <a:r>
              <a:rPr lang="en-US"/>
              <a:t>Name of the faculty [Group: G00] [Sem:2nd]</a:t>
            </a:r>
          </a:p>
        </p:txBody>
      </p:sp>
      <p:sp>
        <p:nvSpPr>
          <p:cNvPr id="5" name="Slide Number Placeholder 4"/>
          <p:cNvSpPr>
            <a:spLocks noGrp="1"/>
          </p:cNvSpPr>
          <p:nvPr>
            <p:ph type="sldNum" sz="quarter" idx="5"/>
          </p:nvPr>
        </p:nvSpPr>
        <p:spPr/>
        <p:txBody>
          <a:bodyPr/>
          <a:lstStyle/>
          <a:p>
            <a:fld id="{C5A7523A-12D4-4E0F-9409-B3F845B48333}" type="slidenum">
              <a:rPr lang="en-US" smtClean="0"/>
              <a:pPr/>
              <a:t>3</a:t>
            </a:fld>
            <a:endParaRPr lang="en-US"/>
          </a:p>
        </p:txBody>
      </p:sp>
    </p:spTree>
    <p:extLst>
      <p:ext uri="{BB962C8B-B14F-4D97-AF65-F5344CB8AC3E}">
        <p14:creationId xmlns:p14="http://schemas.microsoft.com/office/powerpoint/2010/main" val="2136789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US"/>
          </a:p>
        </p:txBody>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txBody>
          <a:bodyPr/>
          <a:lstStyle/>
          <a:p>
            <a:endParaRPr lang="en-US"/>
          </a:p>
        </p:txBody>
      </p:sp>
      <p:pic>
        <p:nvPicPr>
          <p:cNvPr id="2" name="Picture 10" descr="LOGO.gif"/>
          <p:cNvPicPr/>
          <p:nvPr/>
        </p:nvPicPr>
        <p:blipFill>
          <a:blip r:embed="rId14"/>
          <a:srcRect b="10718"/>
          <a:stretch/>
        </p:blipFill>
        <p:spPr>
          <a:xfrm>
            <a:off x="6553080" y="228600"/>
            <a:ext cx="2057040" cy="634680"/>
          </a:xfrm>
          <a:prstGeom prst="rect">
            <a:avLst/>
          </a:prstGeom>
          <a:ln w="9360">
            <a:noFill/>
          </a:ln>
        </p:spPr>
      </p:pic>
      <p:pic>
        <p:nvPicPr>
          <p:cNvPr id="3" name="Picture 10" descr="LOGO.gif"/>
          <p:cNvPicPr/>
          <p:nvPr/>
        </p:nvPicPr>
        <p:blipFill>
          <a:blip r:embed="rId14"/>
          <a:srcRect b="10718"/>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US"/>
            </a:p>
          </p:txBody>
        </p:sp>
        <p:pic>
          <p:nvPicPr>
            <p:cNvPr id="6" name="Picture 9" descr="LOGO.gif"/>
            <p:cNvPicPr/>
            <p:nvPr/>
          </p:nvPicPr>
          <p:blipFill>
            <a:blip r:embed="rId14"/>
            <a:srcRect b="10718"/>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pic>
        <p:nvPicPr>
          <p:cNvPr id="8" name="Picture 15" descr="logo.jpg"/>
          <p:cNvPicPr/>
          <p:nvPr/>
        </p:nvPicPr>
        <p:blipFill>
          <a:blip r:embed="rId15"/>
          <a:stretch/>
        </p:blipFill>
        <p:spPr>
          <a:xfrm>
            <a:off x="6553080" y="228600"/>
            <a:ext cx="1920600" cy="609120"/>
          </a:xfrm>
          <a:prstGeom prst="rect">
            <a:avLst/>
          </a:prstGeom>
          <a:ln w="9360">
            <a:noFill/>
          </a:ln>
        </p:spPr>
      </p:pic>
      <p:pic>
        <p:nvPicPr>
          <p:cNvPr id="9" name="Picture 10" descr="LOGO.gif"/>
          <p:cNvPicPr/>
          <p:nvPr/>
        </p:nvPicPr>
        <p:blipFill>
          <a:blip r:embed="rId14"/>
          <a:srcRect b="10718"/>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US"/>
            </a:p>
          </p:txBody>
        </p:sp>
        <p:pic>
          <p:nvPicPr>
            <p:cNvPr id="12" name="Picture 9" descr="LOGO.gif"/>
            <p:cNvPicPr/>
            <p:nvPr/>
          </p:nvPicPr>
          <p:blipFill>
            <a:blip r:embed="rId14"/>
            <a:srcRect b="10718"/>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pic>
        <p:nvPicPr>
          <p:cNvPr id="14" name="Picture 15" descr="logo.jpg"/>
          <p:cNvPicPr/>
          <p:nvPr/>
        </p:nvPicPr>
        <p:blipFill>
          <a:blip r:embed="rId15"/>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a:solidFill>
                  <a:srgbClr val="000000"/>
                </a:solidFill>
                <a:latin typeface="Calibri"/>
                <a:ea typeface="MS PGothic"/>
              </a:rPr>
              <a:t>Click to edit Master title style</a:t>
            </a:r>
            <a:endParaRPr lang="en-US" sz="3000" b="0" strike="noStrike" spc="-1">
              <a:solidFill>
                <a:srgbClr val="000000"/>
              </a:solidFill>
              <a:latin typeface="Arial"/>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3080" indent="-342720">
              <a:lnSpc>
                <a:spcPct val="100000"/>
              </a:lnSpc>
              <a:spcBef>
                <a:spcPts val="641"/>
              </a:spcBef>
              <a:buClr>
                <a:srgbClr val="000000"/>
              </a:buClr>
              <a:buFont typeface="Arial"/>
              <a:buChar char="•"/>
            </a:pPr>
            <a:r>
              <a:rPr lang="en-US" sz="3200" b="0" strike="noStrike" spc="-1">
                <a:solidFill>
                  <a:srgbClr val="000000"/>
                </a:solidFill>
                <a:latin typeface="Calibri"/>
                <a:ea typeface="MS PGothic"/>
              </a:rPr>
              <a:t>Click to edit Master text styles</a:t>
            </a:r>
            <a:endParaRPr lang="en-US" sz="3200" b="0" strike="noStrike" spc="-1">
              <a:solidFill>
                <a:srgbClr val="000000"/>
              </a:solidFill>
              <a:latin typeface="Calibri"/>
            </a:endParaRPr>
          </a:p>
          <a:p>
            <a:pPr marL="743040" lvl="1" indent="-285480">
              <a:lnSpc>
                <a:spcPct val="100000"/>
              </a:lnSpc>
              <a:spcBef>
                <a:spcPts val="561"/>
              </a:spcBef>
              <a:buClr>
                <a:srgbClr val="000000"/>
              </a:buClr>
              <a:buFont typeface="Arial"/>
              <a:buChar char="–"/>
            </a:pPr>
            <a:r>
              <a:rPr lang="en-US" sz="2800" b="0" strike="noStrike" spc="-1">
                <a:solidFill>
                  <a:srgbClr val="000000"/>
                </a:solidFill>
                <a:latin typeface="Calibri"/>
                <a:ea typeface="MS PGothic"/>
              </a:rPr>
              <a:t>Second level</a:t>
            </a:r>
            <a:endParaRPr lang="en-US" sz="2800" b="0" strike="noStrike" spc="-1">
              <a:solidFill>
                <a:srgbClr val="000000"/>
              </a:solidFill>
              <a:latin typeface="Calibri"/>
            </a:endParaRPr>
          </a:p>
          <a:p>
            <a:pPr marL="1143000" lvl="2" indent="-228240">
              <a:lnSpc>
                <a:spcPct val="100000"/>
              </a:lnSpc>
              <a:spcBef>
                <a:spcPts val="479"/>
              </a:spcBef>
              <a:buClr>
                <a:srgbClr val="000000"/>
              </a:buClr>
              <a:buFont typeface="Arial"/>
              <a:buChar char="•"/>
            </a:pPr>
            <a:r>
              <a:rPr lang="en-US" sz="2400" b="0" strike="noStrike" spc="-1">
                <a:solidFill>
                  <a:srgbClr val="000000"/>
                </a:solidFill>
                <a:latin typeface="Calibri"/>
                <a:ea typeface="MS PGothic"/>
              </a:rPr>
              <a:t>Third level</a:t>
            </a:r>
            <a:endParaRPr lang="en-US" sz="2400" b="0" strike="noStrike" spc="-1">
              <a:solidFill>
                <a:srgbClr val="000000"/>
              </a:solidFill>
              <a:latin typeface="Calibri"/>
            </a:endParaRPr>
          </a:p>
          <a:p>
            <a:pPr marL="1600200" lvl="3" indent="-228240">
              <a:lnSpc>
                <a:spcPct val="100000"/>
              </a:lnSpc>
              <a:spcBef>
                <a:spcPts val="400"/>
              </a:spcBef>
              <a:buClr>
                <a:srgbClr val="000000"/>
              </a:buClr>
              <a:buFont typeface="Arial"/>
              <a:buChar char="–"/>
            </a:pPr>
            <a:r>
              <a:rPr lang="en-US" sz="2000" b="0" strike="noStrike" spc="-1">
                <a:solidFill>
                  <a:srgbClr val="000000"/>
                </a:solidFill>
                <a:latin typeface="Calibri"/>
                <a:ea typeface="MS PGothic"/>
              </a:rPr>
              <a:t>Fourth level</a:t>
            </a:r>
            <a:endParaRPr lang="en-US" sz="2000" b="0" strike="noStrike" spc="-1">
              <a:solidFill>
                <a:srgbClr val="000000"/>
              </a:solidFill>
              <a:latin typeface="Calibri"/>
            </a:endParaRPr>
          </a:p>
          <a:p>
            <a:pPr marL="2057400" lvl="4" indent="-228240">
              <a:lnSpc>
                <a:spcPct val="100000"/>
              </a:lnSpc>
              <a:spcBef>
                <a:spcPts val="400"/>
              </a:spcBef>
              <a:buClr>
                <a:srgbClr val="000000"/>
              </a:buClr>
              <a:buFont typeface="Arial"/>
              <a:buChar char="»"/>
            </a:pPr>
            <a:r>
              <a:rPr lang="en-US" sz="2000" b="0" strike="noStrike" spc="-1">
                <a:solidFill>
                  <a:srgbClr val="000000"/>
                </a:solidFill>
                <a:latin typeface="Calibri"/>
                <a:ea typeface="MS PGothic"/>
              </a:rPr>
              <a:t>Fifth level</a:t>
            </a:r>
            <a:endParaRPr lang="en-US" sz="2000" b="0" strike="noStrike" spc="-1">
              <a:solidFill>
                <a:srgbClr val="000000"/>
              </a:solidFill>
              <a:latin typeface="Calibri"/>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fld id="{AF8DB620-2583-475D-9F87-055691DC1B89}" type="datetime1">
              <a:rPr lang="en-US" sz="1200" b="0" strike="noStrike" spc="-1" smtClean="0">
                <a:latin typeface="Times New Roman"/>
              </a:rPr>
              <a:t>4/26/2026</a:t>
            </a:fld>
            <a:endParaRPr lang="en-GB" sz="1200" b="0" strike="noStrike" spc="-1">
              <a:latin typeface="Times New Roman"/>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endParaRPr lang="en-GB" sz="2400" b="0" strike="noStrike" spc="-1">
              <a:latin typeface="Times New Roman"/>
            </a:endParaRP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a:ea typeface="MS PGothic"/>
              </a:rPr>
              <a:pPr algn="r">
                <a:lnSpc>
                  <a:spcPct val="100000"/>
                </a:lnSpc>
              </a:p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0" y="840631"/>
            <a:ext cx="9144000" cy="5717485"/>
          </a:xfrm>
          <a:prstGeom prst="rect">
            <a:avLst/>
          </a:prstGeom>
          <a:noFill/>
          <a:ln w="9360">
            <a:noFill/>
          </a:ln>
        </p:spPr>
        <p:txBody>
          <a:bodyPr>
            <a:noAutofit/>
          </a:bodyPr>
          <a:lstStyle/>
          <a:p>
            <a:pPr algn="ctr">
              <a:lnSpc>
                <a:spcPct val="100000"/>
              </a:lnSpc>
              <a:spcBef>
                <a:spcPts val="400"/>
              </a:spcBef>
            </a:pPr>
            <a:r>
              <a:rPr lang="en-IN" dirty="0">
                <a:latin typeface="Times New Roman" panose="02020603050405020304" pitchFamily="18" charset="0"/>
                <a:ea typeface="Calibri" panose="020F0502020204030204" pitchFamily="34" charset="0"/>
                <a:cs typeface="Times New Roman" panose="02020603050405020304" pitchFamily="18" charset="0"/>
              </a:rPr>
              <a:t>Project Presentation of (</a:t>
            </a:r>
            <a:r>
              <a:rPr lang="en-US" dirty="0">
                <a:latin typeface="Times New Roman" panose="02020603050405020304" pitchFamily="18" charset="0"/>
                <a:ea typeface="Calibri" panose="020F0502020204030204" pitchFamily="34" charset="0"/>
                <a:cs typeface="Times New Roman" panose="02020603050405020304" pitchFamily="18" charset="0"/>
              </a:rPr>
              <a:t>22CS422)</a:t>
            </a:r>
            <a:endParaRPr lang="en-IN"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r>
              <a:rPr lang="en-US" sz="2000" spc="-1" dirty="0">
                <a:latin typeface="Times New Roman" panose="02020603050405020304" pitchFamily="18" charset="0"/>
                <a:ea typeface="Calibri" panose="020F0502020204030204" pitchFamily="34" charset="0"/>
                <a:cs typeface="Times New Roman" panose="02020603050405020304" pitchFamily="18" charset="0"/>
              </a:rPr>
              <a:t>On</a:t>
            </a:r>
          </a:p>
          <a:p>
            <a:pPr algn="ctr">
              <a:spcBef>
                <a:spcPts val="400"/>
              </a:spcBef>
            </a:pPr>
            <a:r>
              <a:rPr lang="en-US" sz="3200" b="1" dirty="0">
                <a:latin typeface="Times New Roman" panose="02020603050405020304" pitchFamily="18" charset="0"/>
                <a:cs typeface="Times New Roman" panose="02020603050405020304" pitchFamily="18" charset="0"/>
              </a:rPr>
              <a:t>Fake News Detection </a:t>
            </a:r>
          </a:p>
          <a:p>
            <a:pPr algn="ctr">
              <a:spcBef>
                <a:spcPts val="400"/>
              </a:spcBef>
            </a:pPr>
            <a:endParaRPr lang="en-US" sz="3200" b="1" dirty="0">
              <a:latin typeface="Times New Roman" panose="02020603050405020304" pitchFamily="18" charset="0"/>
              <a:cs typeface="Times New Roman" panose="02020603050405020304" pitchFamily="18" charset="0"/>
            </a:endParaRPr>
          </a:p>
          <a:p>
            <a:pPr algn="ctr">
              <a:spcBef>
                <a:spcPts val="400"/>
              </a:spcBef>
            </a:pPr>
            <a:r>
              <a:rPr lang="en-US" sz="2000" b="1" spc="-1" dirty="0">
                <a:solidFill>
                  <a:srgbClr val="000000"/>
                </a:solidFill>
                <a:latin typeface="Times New Roman" panose="02020603050405020304" pitchFamily="18" charset="0"/>
                <a:ea typeface="MS PGothic"/>
                <a:cs typeface="Times New Roman" panose="02020603050405020304" pitchFamily="18" charset="0"/>
              </a:rPr>
              <a:t>Submitted by </a:t>
            </a:r>
            <a:br>
              <a:rPr lang="en-US" sz="2000" spc="-1" dirty="0">
                <a:solidFill>
                  <a:srgbClr val="000000"/>
                </a:solidFill>
                <a:latin typeface="Times New Roman" panose="02020603050405020304" pitchFamily="18" charset="0"/>
                <a:ea typeface="MS PGothic"/>
                <a:cs typeface="Times New Roman" panose="02020603050405020304" pitchFamily="18" charset="0"/>
              </a:rPr>
            </a:br>
            <a:r>
              <a:rPr lang="en-US" sz="2000" spc="-1" dirty="0">
                <a:solidFill>
                  <a:srgbClr val="000000"/>
                </a:solidFill>
                <a:latin typeface="Times New Roman" panose="02020603050405020304" pitchFamily="18" charset="0"/>
                <a:ea typeface="MS PGothic"/>
                <a:cs typeface="Times New Roman" panose="02020603050405020304" pitchFamily="18" charset="0"/>
              </a:rPr>
              <a:t>Shreya Vashisht(2210990840), Jassika(2210991705</a:t>
            </a:r>
            <a:r>
              <a:rPr lang="en-US" sz="2000" b="0" strike="noStrike" spc="-1" dirty="0">
                <a:solidFill>
                  <a:srgbClr val="000000"/>
                </a:solidFill>
                <a:latin typeface="Times New Roman" panose="02020603050405020304" pitchFamily="18" charset="0"/>
                <a:ea typeface="MS PGothic"/>
                <a:cs typeface="Times New Roman" panose="02020603050405020304" pitchFamily="18" charset="0"/>
              </a:rPr>
              <a:t>)</a:t>
            </a:r>
            <a:r>
              <a:rPr lang="en-US" sz="2000" spc="-1" dirty="0">
                <a:solidFill>
                  <a:srgbClr val="000000"/>
                </a:solidFill>
                <a:latin typeface="Times New Roman" panose="02020603050405020304" pitchFamily="18" charset="0"/>
                <a:ea typeface="MS PGothic"/>
                <a:cs typeface="Times New Roman" panose="02020603050405020304" pitchFamily="18" charset="0"/>
              </a:rPr>
              <a:t>, </a:t>
            </a:r>
            <a:r>
              <a:rPr lang="en-US" sz="2000" b="0" strike="noStrike" spc="-1" dirty="0">
                <a:solidFill>
                  <a:srgbClr val="000000"/>
                </a:solidFill>
                <a:latin typeface="Times New Roman" panose="02020603050405020304" pitchFamily="18" charset="0"/>
                <a:ea typeface="MS PGothic"/>
                <a:cs typeface="Times New Roman" panose="02020603050405020304" pitchFamily="18" charset="0"/>
              </a:rPr>
              <a:t>Arshdeep Kaur-(2210990169)</a:t>
            </a:r>
          </a:p>
          <a:p>
            <a:pPr algn="ctr">
              <a:lnSpc>
                <a:spcPct val="100000"/>
              </a:lnSpc>
              <a:spcBef>
                <a:spcPts val="400"/>
              </a:spcBef>
            </a:pP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000" b="1" spc="-1" dirty="0">
                <a:solidFill>
                  <a:srgbClr val="000000"/>
                </a:solidFill>
                <a:latin typeface="Times New Roman" panose="02020603050405020304" pitchFamily="18" charset="0"/>
                <a:ea typeface="MS PGothic"/>
                <a:cs typeface="Times New Roman" panose="02020603050405020304" pitchFamily="18" charset="0"/>
              </a:rPr>
              <a:t>Supervised By</a:t>
            </a:r>
          </a:p>
          <a:p>
            <a:pPr algn="ctr">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Dr. Monika </a:t>
            </a:r>
          </a:p>
          <a:p>
            <a:pPr algn="ctr">
              <a:spcBef>
                <a:spcPts val="400"/>
              </a:spcBef>
            </a:pPr>
            <a:endParaRPr lang="en-US" sz="2000" spc="-1" dirty="0">
              <a:solidFill>
                <a:srgbClr val="000000"/>
              </a:solidFill>
              <a:latin typeface="Times New Roman" panose="02020603050405020304" pitchFamily="18" charset="0"/>
              <a:ea typeface="MS PGothic"/>
              <a:cs typeface="Times New Roman" panose="02020603050405020304" pitchFamily="18" charset="0"/>
            </a:endParaRPr>
          </a:p>
          <a:p>
            <a:pPr algn="ctr">
              <a:spcBef>
                <a:spcPts val="400"/>
              </a:spcBef>
            </a:pPr>
            <a:r>
              <a:rPr lang="en-US" sz="2400" spc="-1" dirty="0">
                <a:latin typeface="Times New Roman" panose="02020603050405020304" pitchFamily="18" charset="0"/>
                <a:ea typeface="MS PGothic"/>
                <a:cs typeface="Times New Roman" panose="02020603050405020304" pitchFamily="18" charset="0"/>
              </a:rPr>
              <a:t>Department of </a:t>
            </a:r>
            <a:r>
              <a:rPr lang="en-US" sz="2400" b="0" strike="noStrike" spc="-1" dirty="0">
                <a:latin typeface="Times New Roman" panose="02020603050405020304" pitchFamily="18" charset="0"/>
                <a:ea typeface="MS PGothic"/>
                <a:cs typeface="Times New Roman" panose="02020603050405020304" pitchFamily="18" charset="0"/>
              </a:rPr>
              <a:t>Computer Science and Engineering, </a:t>
            </a:r>
          </a:p>
          <a:p>
            <a:pPr algn="ctr">
              <a:lnSpc>
                <a:spcPct val="100000"/>
              </a:lnSpc>
              <a:spcBef>
                <a:spcPts val="400"/>
              </a:spcBef>
            </a:pPr>
            <a:r>
              <a:rPr lang="en-US" sz="2400" b="0" strike="noStrike" spc="-1" dirty="0">
                <a:latin typeface="Times New Roman" panose="02020603050405020304" pitchFamily="18" charset="0"/>
                <a:ea typeface="MS PGothic"/>
                <a:cs typeface="Times New Roman" panose="02020603050405020304" pitchFamily="18" charset="0"/>
              </a:rPr>
              <a:t>Chitkara University, Punjab</a:t>
            </a:r>
          </a:p>
          <a:p>
            <a:pPr algn="ctr">
              <a:lnSpc>
                <a:spcPct val="150000"/>
              </a:lnSpc>
              <a:spcBef>
                <a:spcPts val="400"/>
              </a:spcBef>
            </a:pPr>
            <a:endParaRPr lang="en-US" sz="2000" b="0" strike="noStrike" spc="-1" dirty="0">
              <a:solidFill>
                <a:srgbClr val="000000"/>
              </a:solidFill>
              <a:latin typeface="Calibri"/>
            </a:endParaRPr>
          </a:p>
          <a:p>
            <a:pPr>
              <a:lnSpc>
                <a:spcPct val="100000"/>
              </a:lnSpc>
              <a:spcBef>
                <a:spcPts val="641"/>
              </a:spcBef>
            </a:pPr>
            <a:endParaRPr lang="en-US" sz="2000" b="0" strike="noStrike" spc="-1" dirty="0">
              <a:solidFill>
                <a:srgbClr val="000000"/>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457200" y="0"/>
            <a:ext cx="6019560" cy="837720"/>
          </a:xfrm>
          <a:prstGeom prst="rect">
            <a:avLst/>
          </a:prstGeom>
          <a:noFill/>
          <a:ln w="9360">
            <a:noFill/>
          </a:ln>
        </p:spPr>
        <p:txBody>
          <a:bodyPr anchor="ctr">
            <a:noAutofit/>
          </a:bodyPr>
          <a:lstStyle/>
          <a:p>
            <a:pPr algn="ctr">
              <a:lnSpc>
                <a:spcPct val="100000"/>
              </a:lnSpc>
            </a:pPr>
            <a:r>
              <a:rPr lang="en" sz="3200" b="1" dirty="0">
                <a:latin typeface="Times New Roman" panose="02020603050405020304" pitchFamily="18" charset="0"/>
                <a:cs typeface="Times New Roman" panose="02020603050405020304" pitchFamily="18" charset="0"/>
              </a:rPr>
              <a:t>Introduction</a:t>
            </a:r>
            <a:endParaRPr lang="en-US" sz="3000" b="1"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2</a:t>
            </a:fld>
            <a:endParaRPr lang="en-GB" sz="1200" b="0" strike="noStrike" spc="-1">
              <a:latin typeface="Times New Roman"/>
            </a:endParaRPr>
          </a:p>
        </p:txBody>
      </p:sp>
      <p:sp>
        <p:nvSpPr>
          <p:cNvPr id="5" name="TextShape 2"/>
          <p:cNvSpPr txBox="1"/>
          <p:nvPr/>
        </p:nvSpPr>
        <p:spPr>
          <a:xfrm>
            <a:off x="152640" y="1009714"/>
            <a:ext cx="8838720" cy="4838571"/>
          </a:xfrm>
          <a:prstGeom prst="rect">
            <a:avLst/>
          </a:prstGeom>
          <a:noFill/>
          <a:ln w="9360">
            <a:noFill/>
          </a:ln>
        </p:spPr>
        <p:txBody>
          <a:bodyPr>
            <a:noAutofit/>
          </a:bodyPr>
          <a:lstStyle/>
          <a:p>
            <a:pPr lvl="0" eaLnBrk="0" fontAlgn="base" hangingPunct="0">
              <a:spcBef>
                <a:spcPct val="0"/>
              </a:spcBef>
              <a:spcAft>
                <a:spcPct val="0"/>
              </a:spcAft>
            </a:pPr>
            <a:endParaRPr lang="en-US" altLang="en-US" dirty="0">
              <a:latin typeface="Arial" panose="020B0604020202020204" pitchFamily="34" charset="0"/>
            </a:endParaRPr>
          </a:p>
        </p:txBody>
      </p:sp>
      <p:sp>
        <p:nvSpPr>
          <p:cNvPr id="3" name="Rectangle 2">
            <a:extLst>
              <a:ext uri="{FF2B5EF4-FFF2-40B4-BE49-F238E27FC236}">
                <a16:creationId xmlns:a16="http://schemas.microsoft.com/office/drawing/2014/main" id="{2730FC30-23FA-E773-5512-D8A45DEB212B}"/>
              </a:ext>
            </a:extLst>
          </p:cNvPr>
          <p:cNvSpPr>
            <a:spLocks noChangeArrowheads="1"/>
          </p:cNvSpPr>
          <p:nvPr/>
        </p:nvSpPr>
        <p:spPr bwMode="auto">
          <a:xfrm>
            <a:off x="0" y="719557"/>
            <a:ext cx="8838720" cy="6001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rapid growth of social media and online platforms has made information easily accessible, but it has also increased the spread of fake news. </a:t>
            </a:r>
          </a:p>
          <a:p>
            <a:pPr marL="342900" marR="0" lvl="0" indent="-34290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2400" dirty="0">
                <a:latin typeface="Times New Roman" panose="02020603050405020304" pitchFamily="18" charset="0"/>
                <a:cs typeface="Times New Roman" panose="02020603050405020304" pitchFamily="18" charset="0"/>
              </a:rPr>
              <a:t>F</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ake news refers to false or misleading information presented as real news, which can influence public opinion and decision-making. </a:t>
            </a:r>
          </a:p>
          <a:p>
            <a:pPr marL="342900" marR="0" lvl="0" indent="-34290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Traditional fact-checking methods are slow and cannot keep up with the huge volume of online content. </a:t>
            </a:r>
          </a:p>
          <a:p>
            <a:pPr marL="342900" marR="0" lvl="0" indent="-34290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This project proposes a machine learning-based system that automatically detects fake news using Natural Language Processing (NLP). </a:t>
            </a:r>
          </a:p>
          <a:p>
            <a:pPr marL="342900" marR="0" lvl="0" indent="-34290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system analyzes textual content and classifies news as real or fake, helping users verify information quickly and efficiently.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AB4EF-795F-9A74-6F47-D29B92522C6D}"/>
            </a:ext>
          </a:extLst>
        </p:cNvPr>
        <p:cNvGrpSpPr/>
        <p:nvPr/>
      </p:nvGrpSpPr>
      <p:grpSpPr>
        <a:xfrm>
          <a:off x="0" y="0"/>
          <a:ext cx="0" cy="0"/>
          <a:chOff x="0" y="0"/>
          <a:chExt cx="0" cy="0"/>
        </a:xfrm>
      </p:grpSpPr>
      <p:sp>
        <p:nvSpPr>
          <p:cNvPr id="108" name="TextShape 1">
            <a:extLst>
              <a:ext uri="{FF2B5EF4-FFF2-40B4-BE49-F238E27FC236}">
                <a16:creationId xmlns:a16="http://schemas.microsoft.com/office/drawing/2014/main" id="{D014B850-2243-43A8-604F-C6CA1FC46C7E}"/>
              </a:ext>
            </a:extLst>
          </p:cNvPr>
          <p:cNvSpPr txBox="1"/>
          <p:nvPr/>
        </p:nvSpPr>
        <p:spPr>
          <a:xfrm>
            <a:off x="272627" y="0"/>
            <a:ext cx="6019560" cy="837720"/>
          </a:xfrm>
          <a:prstGeom prst="rect">
            <a:avLst/>
          </a:prstGeom>
          <a:noFill/>
          <a:ln w="9360">
            <a:noFill/>
          </a:ln>
        </p:spPr>
        <p:txBody>
          <a:bodyPr anchor="ctr">
            <a:noAutofit/>
          </a:bodyPr>
          <a:lstStyle/>
          <a:p>
            <a:pPr algn="ctr">
              <a:lnSpc>
                <a:spcPct val="100000"/>
              </a:lnSpc>
            </a:pPr>
            <a:r>
              <a:rPr lang="en" sz="3200" b="1" dirty="0">
                <a:latin typeface="Times New Roman" panose="02020603050405020304" pitchFamily="18" charset="0"/>
                <a:cs typeface="Times New Roman" panose="02020603050405020304" pitchFamily="18" charset="0"/>
              </a:rPr>
              <a:t>Problem Definition</a:t>
            </a:r>
            <a:endParaRPr lang="en-US" sz="3000" b="1"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a:extLst>
              <a:ext uri="{FF2B5EF4-FFF2-40B4-BE49-F238E27FC236}">
                <a16:creationId xmlns:a16="http://schemas.microsoft.com/office/drawing/2014/main" id="{9F8B5B37-8682-F329-1D28-E2D16595D0CA}"/>
              </a:ext>
            </a:extLst>
          </p:cNvPr>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3</a:t>
            </a:fld>
            <a:endParaRPr lang="en-GB" sz="1200" b="0" strike="noStrike" spc="-1">
              <a:latin typeface="Times New Roman"/>
            </a:endParaRPr>
          </a:p>
        </p:txBody>
      </p:sp>
      <p:sp>
        <p:nvSpPr>
          <p:cNvPr id="5" name="TextShape 2">
            <a:extLst>
              <a:ext uri="{FF2B5EF4-FFF2-40B4-BE49-F238E27FC236}">
                <a16:creationId xmlns:a16="http://schemas.microsoft.com/office/drawing/2014/main" id="{3E2D20EC-90E0-1575-56D1-0F059C546515}"/>
              </a:ext>
            </a:extLst>
          </p:cNvPr>
          <p:cNvSpPr txBox="1"/>
          <p:nvPr/>
        </p:nvSpPr>
        <p:spPr>
          <a:xfrm>
            <a:off x="76320" y="919129"/>
            <a:ext cx="8991360" cy="5802071"/>
          </a:xfrm>
          <a:prstGeom prst="rect">
            <a:avLst/>
          </a:prstGeom>
          <a:noFill/>
          <a:ln w="9360">
            <a:noFill/>
          </a:ln>
        </p:spPr>
        <p:txBody>
          <a:bodyPr>
            <a:noAutofit/>
          </a:bodyPr>
          <a:lstStyle/>
          <a:p>
            <a:pPr lvl="0" eaLnBrk="0" fontAlgn="base" hangingPunct="0">
              <a:spcBef>
                <a:spcPct val="0"/>
              </a:spcBef>
              <a:spcAft>
                <a:spcPct val="0"/>
              </a:spcAft>
            </a:pPr>
            <a:endParaRPr lang="en-US" altLang="en-US" dirty="0">
              <a:latin typeface="Arial" panose="020B0604020202020204" pitchFamily="34" charset="0"/>
            </a:endParaRPr>
          </a:p>
          <a:p>
            <a:r>
              <a:rPr lang="en-US" sz="2400" dirty="0">
                <a:latin typeface="Times New Roman" panose="02020603050405020304" pitchFamily="18" charset="0"/>
                <a:cs typeface="Times New Roman" panose="02020603050405020304" pitchFamily="18" charset="0"/>
              </a:rPr>
              <a:t>The main problem addressed in this project is the rapid spread of fake news on digital platforms. With so much information available online, it becomes very difficult for users to differentiate between real and fake content.</a:t>
            </a:r>
          </a:p>
          <a:p>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Traditional fact-checking methods rely on human effort, which is slow and cannot handle the huge volume of data generated every day.</a:t>
            </a:r>
          </a:p>
          <a:p>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Therefore, there is a strong need for an automated system that can efficiently analyze news content and accurately classify it as real or fake</a:t>
            </a:r>
          </a:p>
          <a:p>
            <a:pPr lvl="0" eaLnBrk="0" fontAlgn="base" hangingPunct="0">
              <a:spcBef>
                <a:spcPct val="0"/>
              </a:spcBef>
              <a:spcAft>
                <a:spcPct val="0"/>
              </a:spcAft>
            </a:pPr>
            <a:endParaRPr lang="en-US" altLang="en-US" dirty="0">
              <a:latin typeface="Arial" panose="020B0604020202020204" pitchFamily="34" charset="0"/>
            </a:endParaRP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530527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A4298-DD89-8B18-2362-DFDFAE1FFBBD}"/>
              </a:ext>
            </a:extLst>
          </p:cNvPr>
          <p:cNvSpPr>
            <a:spLocks noGrp="1"/>
          </p:cNvSpPr>
          <p:nvPr>
            <p:ph type="title"/>
          </p:nvPr>
        </p:nvSpPr>
        <p:spPr/>
        <p:txBody>
          <a:bodyPr/>
          <a:lstStyle/>
          <a:p>
            <a:pPr algn="ctr"/>
            <a:r>
              <a:rPr lang="en-US" sz="3200" b="1" dirty="0">
                <a:latin typeface="Times New Roman" panose="02020603050405020304" pitchFamily="18" charset="0"/>
                <a:cs typeface="Times New Roman" panose="02020603050405020304" pitchFamily="18" charset="0"/>
              </a:rPr>
              <a:t>Proposed Solution</a:t>
            </a:r>
            <a:endParaRPr lang="en-IN" sz="32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B092DC2D-CAA1-7739-D3F5-82F0FCCC0218}"/>
              </a:ext>
            </a:extLst>
          </p:cNvPr>
          <p:cNvSpPr>
            <a:spLocks noGrp="1"/>
          </p:cNvSpPr>
          <p:nvPr>
            <p:ph type="subTitle"/>
          </p:nvPr>
        </p:nvSpPr>
        <p:spPr>
          <a:xfrm>
            <a:off x="265469" y="3254478"/>
            <a:ext cx="8593395" cy="599768"/>
          </a:xfrm>
        </p:spPr>
        <p:txBody>
          <a:bodyPr/>
          <a:lstStyle/>
          <a:p>
            <a:pPr algn="just"/>
            <a:r>
              <a:rPr lang="en-US" sz="2400" dirty="0">
                <a:latin typeface="Times New Roman" panose="02020603050405020304" pitchFamily="18" charset="0"/>
                <a:cs typeface="Times New Roman" panose="02020603050405020304" pitchFamily="18" charset="0"/>
              </a:rPr>
              <a:t>To address the problem, we propose a machine learning-based fake news detection system.</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The system uses Natural Language Processing techniques to analyze the textual content of news articles. First, the text is preprocessed and converted into numerical form using TF-IDF.</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Then, machine learning algorithms like Logistic Regression and Naive Bayes are applied to classify the news as real or fake.</a:t>
            </a: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The system provides quick and real-time predictions, helping users verify the authenticity of news efficiently</a:t>
            </a:r>
            <a:endParaRPr lang="en-IN" sz="2400" dirty="0">
              <a:latin typeface="Times New Roman" panose="02020603050405020304" pitchFamily="18" charset="0"/>
              <a:cs typeface="Times New Roman" panose="02020603050405020304" pitchFamily="18" charset="0"/>
            </a:endParaRPr>
          </a:p>
          <a:p>
            <a:endParaRPr lang="en-IN" dirty="0"/>
          </a:p>
        </p:txBody>
      </p:sp>
    </p:spTree>
    <p:extLst>
      <p:ext uri="{BB962C8B-B14F-4D97-AF65-F5344CB8AC3E}">
        <p14:creationId xmlns:p14="http://schemas.microsoft.com/office/powerpoint/2010/main" val="7089155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9D093-17A7-94AC-E622-C0D899424CEA}"/>
            </a:ext>
          </a:extLst>
        </p:cNvPr>
        <p:cNvGrpSpPr/>
        <p:nvPr/>
      </p:nvGrpSpPr>
      <p:grpSpPr>
        <a:xfrm>
          <a:off x="0" y="0"/>
          <a:ext cx="0" cy="0"/>
          <a:chOff x="0" y="0"/>
          <a:chExt cx="0" cy="0"/>
        </a:xfrm>
      </p:grpSpPr>
      <p:sp>
        <p:nvSpPr>
          <p:cNvPr id="108" name="TextShape 1">
            <a:extLst>
              <a:ext uri="{FF2B5EF4-FFF2-40B4-BE49-F238E27FC236}">
                <a16:creationId xmlns:a16="http://schemas.microsoft.com/office/drawing/2014/main" id="{919E464A-3F40-EB6C-3F2B-1B394FBBFA62}"/>
              </a:ext>
            </a:extLst>
          </p:cNvPr>
          <p:cNvSpPr txBox="1"/>
          <p:nvPr/>
        </p:nvSpPr>
        <p:spPr>
          <a:xfrm>
            <a:off x="457200" y="0"/>
            <a:ext cx="6019560" cy="837720"/>
          </a:xfrm>
          <a:prstGeom prst="rect">
            <a:avLst/>
          </a:prstGeom>
          <a:noFill/>
          <a:ln w="9360">
            <a:noFill/>
          </a:ln>
        </p:spPr>
        <p:txBody>
          <a:bodyPr anchor="ctr">
            <a:noAutofit/>
          </a:bodyPr>
          <a:lstStyle/>
          <a:p>
            <a:pPr algn="ctr">
              <a:lnSpc>
                <a:spcPct val="100000"/>
              </a:lnSpc>
            </a:pPr>
            <a:r>
              <a:rPr lang="en-US" sz="3200" b="1" spc="-1" dirty="0">
                <a:solidFill>
                  <a:srgbClr val="000000"/>
                </a:solidFill>
                <a:latin typeface="Times New Roman" panose="02020603050405020304" pitchFamily="18" charset="0"/>
                <a:cs typeface="Times New Roman" panose="02020603050405020304" pitchFamily="18" charset="0"/>
              </a:rPr>
              <a:t>Methodology &amp; Tools</a:t>
            </a:r>
          </a:p>
        </p:txBody>
      </p:sp>
      <p:sp>
        <p:nvSpPr>
          <p:cNvPr id="110" name="TextShape 3">
            <a:extLst>
              <a:ext uri="{FF2B5EF4-FFF2-40B4-BE49-F238E27FC236}">
                <a16:creationId xmlns:a16="http://schemas.microsoft.com/office/drawing/2014/main" id="{2667BE37-8A7C-3F9E-125C-E288458C0444}"/>
              </a:ext>
            </a:extLst>
          </p:cNvPr>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5</a:t>
            </a:fld>
            <a:endParaRPr lang="en-GB" sz="1200" b="0" strike="noStrike" spc="-1">
              <a:latin typeface="Times New Roman"/>
            </a:endParaRPr>
          </a:p>
        </p:txBody>
      </p:sp>
      <p:sp>
        <p:nvSpPr>
          <p:cNvPr id="5" name="TextShape 2">
            <a:extLst>
              <a:ext uri="{FF2B5EF4-FFF2-40B4-BE49-F238E27FC236}">
                <a16:creationId xmlns:a16="http://schemas.microsoft.com/office/drawing/2014/main" id="{481826F7-1060-D42D-5DCA-0A8469FE6F7E}"/>
              </a:ext>
            </a:extLst>
          </p:cNvPr>
          <p:cNvSpPr txBox="1"/>
          <p:nvPr/>
        </p:nvSpPr>
        <p:spPr>
          <a:xfrm>
            <a:off x="152640" y="908574"/>
            <a:ext cx="8838720" cy="4838571"/>
          </a:xfrm>
          <a:prstGeom prst="rect">
            <a:avLst/>
          </a:prstGeom>
          <a:noFill/>
          <a:ln w="9360">
            <a:noFill/>
          </a:ln>
        </p:spPr>
        <p:txBody>
          <a:bodyPr>
            <a:noAutofit/>
          </a:bodyPr>
          <a:lstStyle/>
          <a:p>
            <a:r>
              <a:rPr lang="en-US" sz="2400" b="1" dirty="0">
                <a:latin typeface="Times New Roman" panose="02020603050405020304" pitchFamily="18" charset="0"/>
                <a:cs typeface="Times New Roman" panose="02020603050405020304" pitchFamily="18" charset="0"/>
              </a:rPr>
              <a:t>Methodology:</a:t>
            </a:r>
          </a:p>
          <a:p>
            <a:r>
              <a:rPr lang="en-US" sz="2400" dirty="0">
                <a:latin typeface="Times New Roman" panose="02020603050405020304" pitchFamily="18" charset="0"/>
                <a:cs typeface="Times New Roman" panose="02020603050405020304" pitchFamily="18" charset="0"/>
              </a:rPr>
              <a:t>Data Collection (labeled news dataset) </a:t>
            </a:r>
          </a:p>
          <a:p>
            <a:r>
              <a:rPr lang="en-US" sz="2400" dirty="0">
                <a:latin typeface="Times New Roman" panose="02020603050405020304" pitchFamily="18" charset="0"/>
                <a:cs typeface="Times New Roman" panose="02020603050405020304" pitchFamily="18" charset="0"/>
              </a:rPr>
              <a:t>Data Preprocessing (cleaning, </a:t>
            </a:r>
            <a:r>
              <a:rPr lang="en-US" sz="2400" dirty="0" err="1">
                <a:latin typeface="Times New Roman" panose="02020603050405020304" pitchFamily="18" charset="0"/>
                <a:cs typeface="Times New Roman" panose="02020603050405020304" pitchFamily="18" charset="0"/>
              </a:rPr>
              <a:t>stopword</a:t>
            </a:r>
            <a:r>
              <a:rPr lang="en-US" sz="2400" dirty="0">
                <a:latin typeface="Times New Roman" panose="02020603050405020304" pitchFamily="18" charset="0"/>
                <a:cs typeface="Times New Roman" panose="02020603050405020304" pitchFamily="18" charset="0"/>
              </a:rPr>
              <a:t> removal) </a:t>
            </a:r>
          </a:p>
          <a:p>
            <a:r>
              <a:rPr lang="en-US" sz="2400" dirty="0">
                <a:latin typeface="Times New Roman" panose="02020603050405020304" pitchFamily="18" charset="0"/>
                <a:cs typeface="Times New Roman" panose="02020603050405020304" pitchFamily="18" charset="0"/>
              </a:rPr>
              <a:t>Feature Extraction using TF-IDF </a:t>
            </a:r>
          </a:p>
          <a:p>
            <a:r>
              <a:rPr lang="en-US" sz="2400" dirty="0">
                <a:latin typeface="Times New Roman" panose="02020603050405020304" pitchFamily="18" charset="0"/>
                <a:cs typeface="Times New Roman" panose="02020603050405020304" pitchFamily="18" charset="0"/>
              </a:rPr>
              <a:t>Model Training (Logistic Regression, Naive Bayes) </a:t>
            </a:r>
          </a:p>
          <a:p>
            <a:r>
              <a:rPr lang="en-US" sz="2400" dirty="0">
                <a:latin typeface="Times New Roman" panose="02020603050405020304" pitchFamily="18" charset="0"/>
                <a:cs typeface="Times New Roman" panose="02020603050405020304" pitchFamily="18" charset="0"/>
              </a:rPr>
              <a:t>Evaluation (Accuracy, Precision, Recall, F1-score) </a:t>
            </a:r>
          </a:p>
          <a:p>
            <a:endParaRPr lang="en-US" sz="2400" dirty="0">
              <a:latin typeface="Times New Roman" panose="02020603050405020304" pitchFamily="18" charset="0"/>
              <a:cs typeface="Times New Roman" panose="02020603050405020304" pitchFamily="18" charset="0"/>
            </a:endParaRPr>
          </a:p>
          <a:p>
            <a:r>
              <a:rPr lang="en-US" sz="2400" b="1" dirty="0">
                <a:latin typeface="Times New Roman" panose="02020603050405020304" pitchFamily="18" charset="0"/>
                <a:cs typeface="Times New Roman" panose="02020603050405020304" pitchFamily="18" charset="0"/>
              </a:rPr>
              <a:t>Tools &amp; Technologies:</a:t>
            </a:r>
          </a:p>
          <a:p>
            <a:r>
              <a:rPr lang="en-US" sz="2400" dirty="0">
                <a:latin typeface="Times New Roman" panose="02020603050405020304" pitchFamily="18" charset="0"/>
                <a:cs typeface="Times New Roman" panose="02020603050405020304" pitchFamily="18" charset="0"/>
              </a:rPr>
              <a:t>Python </a:t>
            </a:r>
          </a:p>
          <a:p>
            <a:r>
              <a:rPr lang="en-US" sz="2400" dirty="0">
                <a:latin typeface="Times New Roman" panose="02020603050405020304" pitchFamily="18" charset="0"/>
                <a:cs typeface="Times New Roman" panose="02020603050405020304" pitchFamily="18" charset="0"/>
              </a:rPr>
              <a:t>Scikit-learn, Pandas, NumPy </a:t>
            </a:r>
          </a:p>
          <a:p>
            <a:r>
              <a:rPr lang="en-US" sz="2400" dirty="0">
                <a:latin typeface="Times New Roman" panose="02020603050405020304" pitchFamily="18" charset="0"/>
                <a:cs typeface="Times New Roman" panose="02020603050405020304" pitchFamily="18" charset="0"/>
              </a:rPr>
              <a:t>NLTK (for NLP tasks) </a:t>
            </a:r>
          </a:p>
          <a:p>
            <a:r>
              <a:rPr lang="en-US" sz="2400" dirty="0" err="1">
                <a:latin typeface="Times New Roman" panose="02020603050405020304" pitchFamily="18" charset="0"/>
                <a:cs typeface="Times New Roman" panose="02020603050405020304" pitchFamily="18" charset="0"/>
              </a:rPr>
              <a:t>Jupyter</a:t>
            </a:r>
            <a:r>
              <a:rPr lang="en-US" sz="2400" dirty="0">
                <a:latin typeface="Times New Roman" panose="02020603050405020304" pitchFamily="18" charset="0"/>
                <a:cs typeface="Times New Roman" panose="02020603050405020304" pitchFamily="18" charset="0"/>
              </a:rPr>
              <a:t> Notebook / VS Code</a:t>
            </a:r>
          </a:p>
          <a:p>
            <a:endParaRPr lang="en-US" dirty="0"/>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99276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A3B58-8976-6C96-DA77-F561D90511C5}"/>
            </a:ext>
          </a:extLst>
        </p:cNvPr>
        <p:cNvGrpSpPr/>
        <p:nvPr/>
      </p:nvGrpSpPr>
      <p:grpSpPr>
        <a:xfrm>
          <a:off x="0" y="0"/>
          <a:ext cx="0" cy="0"/>
          <a:chOff x="0" y="0"/>
          <a:chExt cx="0" cy="0"/>
        </a:xfrm>
      </p:grpSpPr>
      <p:sp>
        <p:nvSpPr>
          <p:cNvPr id="108" name="TextShape 1">
            <a:extLst>
              <a:ext uri="{FF2B5EF4-FFF2-40B4-BE49-F238E27FC236}">
                <a16:creationId xmlns:a16="http://schemas.microsoft.com/office/drawing/2014/main" id="{B4D0487E-30AC-F3C4-D580-7EAE47634177}"/>
              </a:ext>
            </a:extLst>
          </p:cNvPr>
          <p:cNvSpPr txBox="1"/>
          <p:nvPr/>
        </p:nvSpPr>
        <p:spPr>
          <a:xfrm>
            <a:off x="457200" y="0"/>
            <a:ext cx="6019560" cy="837720"/>
          </a:xfrm>
          <a:prstGeom prst="rect">
            <a:avLst/>
          </a:prstGeom>
          <a:noFill/>
          <a:ln w="9360">
            <a:noFill/>
          </a:ln>
        </p:spPr>
        <p:txBody>
          <a:bodyPr anchor="ctr">
            <a:noAutofit/>
          </a:bodyPr>
          <a:lstStyle/>
          <a:p>
            <a:pPr algn="ctr">
              <a:lnSpc>
                <a:spcPct val="100000"/>
              </a:lnSpc>
            </a:pPr>
            <a:r>
              <a:rPr lang="en-US" sz="3200" b="1" spc="-1" dirty="0">
                <a:solidFill>
                  <a:srgbClr val="000000"/>
                </a:solidFill>
                <a:latin typeface="Times New Roman" panose="02020603050405020304" pitchFamily="18" charset="0"/>
                <a:cs typeface="Times New Roman" panose="02020603050405020304" pitchFamily="18" charset="0"/>
              </a:rPr>
              <a:t>Key Findings &amp; Outcomes</a:t>
            </a:r>
          </a:p>
        </p:txBody>
      </p:sp>
      <p:sp>
        <p:nvSpPr>
          <p:cNvPr id="110" name="TextShape 3">
            <a:extLst>
              <a:ext uri="{FF2B5EF4-FFF2-40B4-BE49-F238E27FC236}">
                <a16:creationId xmlns:a16="http://schemas.microsoft.com/office/drawing/2014/main" id="{6E6705E9-B744-EF42-9E78-62488F80184A}"/>
              </a:ext>
            </a:extLst>
          </p:cNvPr>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6</a:t>
            </a:fld>
            <a:endParaRPr lang="en-GB" sz="1200" b="0" strike="noStrike" spc="-1">
              <a:latin typeface="Times New Roman"/>
            </a:endParaRPr>
          </a:p>
        </p:txBody>
      </p:sp>
      <p:sp>
        <p:nvSpPr>
          <p:cNvPr id="5" name="TextShape 2">
            <a:extLst>
              <a:ext uri="{FF2B5EF4-FFF2-40B4-BE49-F238E27FC236}">
                <a16:creationId xmlns:a16="http://schemas.microsoft.com/office/drawing/2014/main" id="{3B118A21-E647-9471-CD0D-06DEAC19389F}"/>
              </a:ext>
            </a:extLst>
          </p:cNvPr>
          <p:cNvSpPr txBox="1"/>
          <p:nvPr/>
        </p:nvSpPr>
        <p:spPr>
          <a:xfrm>
            <a:off x="152640" y="849657"/>
            <a:ext cx="8838720" cy="4838571"/>
          </a:xfrm>
          <a:prstGeom prst="rect">
            <a:avLst/>
          </a:prstGeom>
          <a:noFill/>
          <a:ln w="9360">
            <a:noFill/>
          </a:ln>
        </p:spPr>
        <p:txBody>
          <a:bodyPr>
            <a:noAutofit/>
          </a:bodyPr>
          <a:lstStyle/>
          <a:p>
            <a:endParaRPr lang="en-US" sz="2000" b="1" dirty="0">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C683F068-3138-C975-C2E8-42BF4F05D938}"/>
              </a:ext>
            </a:extLst>
          </p:cNvPr>
          <p:cNvSpPr>
            <a:spLocks noChangeArrowheads="1"/>
          </p:cNvSpPr>
          <p:nvPr/>
        </p:nvSpPr>
        <p:spPr bwMode="auto">
          <a:xfrm>
            <a:off x="189527" y="1169772"/>
            <a:ext cx="8496913"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indent="-34290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M</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achine learning models effectively detect fake news </a:t>
            </a:r>
          </a:p>
          <a:p>
            <a:pPr eaLnBrk="0" fontAlgn="base" hangingPunct="0">
              <a:spcBef>
                <a:spcPct val="0"/>
              </a:spcBef>
              <a:spcAft>
                <a:spcPct val="0"/>
              </a:spcAft>
              <a:buFontTx/>
              <a:buChar char="•"/>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Logistic Regression achieved highest accuracy (~95%) </a:t>
            </a:r>
          </a:p>
          <a:p>
            <a:pPr eaLnBrk="0" fontAlgn="base" hangingPunct="0">
              <a:spcBef>
                <a:spcPct val="0"/>
              </a:spcBef>
              <a:spcAft>
                <a:spcPct val="0"/>
              </a:spcAft>
              <a:buFontTx/>
              <a:buChar char="•"/>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TF-IDF proved efficient for feature extraction </a:t>
            </a:r>
          </a:p>
          <a:p>
            <a:pPr eaLnBrk="0" fontAlgn="base" hangingPunct="0">
              <a:spcBef>
                <a:spcPct val="0"/>
              </a:spcBef>
              <a:spcAft>
                <a:spcPct val="0"/>
              </a:spcAft>
              <a:buFontTx/>
              <a:buChar char="•"/>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System provides fast and reliable predictions </a:t>
            </a:r>
          </a:p>
          <a:p>
            <a:pPr eaLnBrk="0" fontAlgn="base" hangingPunct="0">
              <a:spcBef>
                <a:spcPct val="0"/>
              </a:spcBef>
              <a:spcAft>
                <a:spcPct val="0"/>
              </a:spcAft>
              <a:buFontTx/>
              <a:buChar char="•"/>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Simple models performed well with low computational cost </a:t>
            </a:r>
          </a:p>
        </p:txBody>
      </p:sp>
    </p:spTree>
    <p:extLst>
      <p:ext uri="{BB962C8B-B14F-4D97-AF65-F5344CB8AC3E}">
        <p14:creationId xmlns:p14="http://schemas.microsoft.com/office/powerpoint/2010/main" val="21940263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C0166-85EA-B9B7-BC22-2058CCC5791C}"/>
              </a:ext>
            </a:extLst>
          </p:cNvPr>
          <p:cNvSpPr>
            <a:spLocks noGrp="1"/>
          </p:cNvSpPr>
          <p:nvPr>
            <p:ph type="title"/>
          </p:nvPr>
        </p:nvSpPr>
        <p:spPr/>
        <p:txBody>
          <a:bodyPr/>
          <a:lstStyle/>
          <a:p>
            <a:pPr algn="ctr"/>
            <a:r>
              <a:rPr lang="en-IN" sz="3200" b="1" dirty="0">
                <a:latin typeface="Times New Roman" panose="02020603050405020304" pitchFamily="18" charset="0"/>
                <a:cs typeface="Times New Roman" panose="02020603050405020304" pitchFamily="18" charset="0"/>
              </a:rPr>
              <a:t>Research Objectives</a:t>
            </a:r>
            <a:r>
              <a:rPr lang="en-IN" sz="3200" dirty="0"/>
              <a:t>	</a:t>
            </a:r>
            <a:endParaRPr lang="en-US" sz="3200" b="1" dirty="0">
              <a:latin typeface="Times New Roman" panose="02020603050405020304" pitchFamily="18" charset="0"/>
              <a:cs typeface="Times New Roman" panose="02020603050405020304" pitchFamily="18" charset="0"/>
            </a:endParaRPr>
          </a:p>
        </p:txBody>
      </p:sp>
      <p:sp>
        <p:nvSpPr>
          <p:cNvPr id="3" name="Rectangle 1">
            <a:extLst>
              <a:ext uri="{FF2B5EF4-FFF2-40B4-BE49-F238E27FC236}">
                <a16:creationId xmlns:a16="http://schemas.microsoft.com/office/drawing/2014/main" id="{DC7AF773-3970-5A56-9287-18F7157FBD52}"/>
              </a:ext>
            </a:extLst>
          </p:cNvPr>
          <p:cNvSpPr>
            <a:spLocks noChangeArrowheads="1"/>
          </p:cNvSpPr>
          <p:nvPr/>
        </p:nvSpPr>
        <p:spPr bwMode="auto">
          <a:xfrm>
            <a:off x="186813" y="687184"/>
            <a:ext cx="7148053" cy="22159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Develop an automated fake news detection system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Apply NLP techniques for text analysis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Use TF-IDF for effective feature extraction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Train models (Logistic Regression, Naive Bayes)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Evaluate performance using standard metrics </a:t>
            </a:r>
          </a:p>
        </p:txBody>
      </p:sp>
      <p:sp>
        <p:nvSpPr>
          <p:cNvPr id="5" name="Title 4">
            <a:extLst>
              <a:ext uri="{FF2B5EF4-FFF2-40B4-BE49-F238E27FC236}">
                <a16:creationId xmlns:a16="http://schemas.microsoft.com/office/drawing/2014/main" id="{E2F312CC-B202-0281-1BCE-0BE84F0A57FE}"/>
              </a:ext>
            </a:extLst>
          </p:cNvPr>
          <p:cNvSpPr>
            <a:spLocks noGrp="1"/>
          </p:cNvSpPr>
          <p:nvPr>
            <p:ph type="title"/>
          </p:nvPr>
        </p:nvSpPr>
        <p:spPr>
          <a:xfrm flipV="1">
            <a:off x="462296" y="1100776"/>
            <a:ext cx="5486040" cy="1388806"/>
          </a:xfrm>
        </p:spPr>
        <p:txBody>
          <a:bodyPr/>
          <a:lstStyle/>
          <a:p>
            <a:r>
              <a:rPr lang="en-US" dirty="0"/>
              <a:t>  </a:t>
            </a:r>
          </a:p>
        </p:txBody>
      </p:sp>
    </p:spTree>
    <p:extLst>
      <p:ext uri="{BB962C8B-B14F-4D97-AF65-F5344CB8AC3E}">
        <p14:creationId xmlns:p14="http://schemas.microsoft.com/office/powerpoint/2010/main" val="986373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8E16B-EE54-A5AB-2961-F0B843CBE770}"/>
              </a:ext>
            </a:extLst>
          </p:cNvPr>
          <p:cNvSpPr>
            <a:spLocks noGrp="1"/>
          </p:cNvSpPr>
          <p:nvPr>
            <p:ph type="title"/>
          </p:nvPr>
        </p:nvSpPr>
        <p:spPr/>
        <p:txBody>
          <a:bodyPr/>
          <a:lstStyle/>
          <a:p>
            <a:pPr algn="ctr"/>
            <a:r>
              <a:rPr lang="en-US" sz="3200" b="1" dirty="0">
                <a:latin typeface="Times New Roman" panose="02020603050405020304" pitchFamily="18" charset="0"/>
                <a:cs typeface="Times New Roman" panose="02020603050405020304" pitchFamily="18" charset="0"/>
              </a:rPr>
              <a:t>Conclusion &amp; Future Scope</a:t>
            </a:r>
          </a:p>
        </p:txBody>
      </p:sp>
      <p:sp>
        <p:nvSpPr>
          <p:cNvPr id="4" name="Rectangle 1">
            <a:extLst>
              <a:ext uri="{FF2B5EF4-FFF2-40B4-BE49-F238E27FC236}">
                <a16:creationId xmlns:a16="http://schemas.microsoft.com/office/drawing/2014/main" id="{793D6562-3A2C-1631-9A4F-09B44F366EFB}"/>
              </a:ext>
            </a:extLst>
          </p:cNvPr>
          <p:cNvSpPr>
            <a:spLocks noGrp="1" noChangeArrowheads="1"/>
          </p:cNvSpPr>
          <p:nvPr>
            <p:ph type="subTitle"/>
          </p:nvPr>
        </p:nvSpPr>
        <p:spPr bwMode="auto">
          <a:xfrm>
            <a:off x="189836" y="1100501"/>
            <a:ext cx="8954164" cy="50119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 conclusion, our project demonstrates that machine learning combined with natural language processing can effectively detect fake news. The system achieved high accuracy and provides fast and reliable predictions. It is also simple to implement and scalable for practical use. For future work, we can enhance the system by using advanced deep learning models like LSTM and transformers. We can also expand the dataset by including multiple sources and languages. Additionally, integrating real-time detection from social media platforms can make the system more powerful and useful in real-world scenarios.</a:t>
            </a:r>
          </a:p>
        </p:txBody>
      </p:sp>
    </p:spTree>
    <p:extLst>
      <p:ext uri="{BB962C8B-B14F-4D97-AF65-F5344CB8AC3E}">
        <p14:creationId xmlns:p14="http://schemas.microsoft.com/office/powerpoint/2010/main" val="14099559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297577" y="2821578"/>
            <a:ext cx="6705599" cy="1410788"/>
          </a:xfrm>
          <a:prstGeom prst="rect">
            <a:avLst/>
          </a:prstGeom>
          <a:noFill/>
          <a:ln w="9360">
            <a:noFill/>
          </a:ln>
        </p:spPr>
        <p:txBody>
          <a:bodyPr anchor="ctr">
            <a:noAutofit/>
          </a:bodyPr>
          <a:lstStyle/>
          <a:p>
            <a:pPr algn="ctr">
              <a:lnSpc>
                <a:spcPct val="100000"/>
              </a:lnSpc>
            </a:pPr>
            <a:r>
              <a:rPr lang="en" sz="5400" dirty="0">
                <a:latin typeface="Times New Roman" panose="02020603050405020304" pitchFamily="18" charset="0"/>
                <a:cs typeface="Times New Roman" panose="02020603050405020304" pitchFamily="18" charset="0"/>
              </a:rPr>
              <a:t>Thank You</a:t>
            </a:r>
            <a:endParaRPr lang="en-US" sz="54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9</a:t>
            </a:fld>
            <a:endParaRPr lang="en-GB" sz="1200" b="0" strike="noStrike" spc="-1">
              <a:latin typeface="Times New Roman"/>
            </a:endParaRPr>
          </a:p>
        </p:txBody>
      </p:sp>
    </p:spTree>
    <p:extLst>
      <p:ext uri="{BB962C8B-B14F-4D97-AF65-F5344CB8AC3E}">
        <p14:creationId xmlns:p14="http://schemas.microsoft.com/office/powerpoint/2010/main" val="28344798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A62A602-78C1-468C-BB25-57CD481DB741}">
  <ds:schemaRefs>
    <ds:schemaRef ds:uri="http://schemas.microsoft.com/office/2006/documentManagement/types"/>
    <ds:schemaRef ds:uri="http://schemas.openxmlformats.org/package/2006/metadata/core-properties"/>
    <ds:schemaRef ds:uri="http://schemas.microsoft.com/office/2006/metadata/properties"/>
    <ds:schemaRef ds:uri="http://purl.org/dc/terms/"/>
    <ds:schemaRef ds:uri="http://purl.org/dc/elements/1.1/"/>
    <ds:schemaRef ds:uri="http://schemas.microsoft.com/office/infopath/2007/PartnerControls"/>
    <ds:schemaRef ds:uri="http://www.w3.org/XML/1998/namespace"/>
    <ds:schemaRef ds:uri="http://purl.org/dc/dcmitype/"/>
  </ds:schemaRefs>
</ds:datastoreItem>
</file>

<file path=customXml/itemProps2.xml><?xml version="1.0" encoding="utf-8"?>
<ds:datastoreItem xmlns:ds="http://schemas.openxmlformats.org/officeDocument/2006/customXml" ds:itemID="{737ED6F0-5E4C-4CD0-9B68-9C53F925A6F7}">
  <ds:schemaRefs>
    <ds:schemaRef ds:uri="http://schemas.microsoft.com/sharepoint/v3/contenttype/forms"/>
  </ds:schemaRefs>
</ds:datastoreItem>
</file>

<file path=customXml/itemProps3.xml><?xml version="1.0" encoding="utf-8"?>
<ds:datastoreItem xmlns:ds="http://schemas.openxmlformats.org/officeDocument/2006/customXml" ds:itemID="{491DF113-39A2-46D5-BFDA-E63300A9EC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
  <TotalTime>35052</TotalTime>
  <Words>605</Words>
  <Application>Microsoft Office PowerPoint</Application>
  <PresentationFormat>On-screen Show (4:3)</PresentationFormat>
  <Paragraphs>75</Paragraphs>
  <Slides>9</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Times New Roman</vt:lpstr>
      <vt:lpstr>Office Theme</vt:lpstr>
      <vt:lpstr>PowerPoint Presentation</vt:lpstr>
      <vt:lpstr>PowerPoint Presentation</vt:lpstr>
      <vt:lpstr>PowerPoint Presentation</vt:lpstr>
      <vt:lpstr>Proposed Solution</vt:lpstr>
      <vt:lpstr>PowerPoint Presentation</vt:lpstr>
      <vt:lpstr>PowerPoint Presentation</vt:lpstr>
      <vt:lpstr>Research Objectives </vt:lpstr>
      <vt:lpstr>Conclusion &amp; Future Scope</vt:lpstr>
      <vt:lpstr>PowerPoint Presentation</vt:lpstr>
    </vt:vector>
  </TitlesOfParts>
  <Company>CCC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jassika popli</cp:lastModifiedBy>
  <cp:revision>2308</cp:revision>
  <dcterms:created xsi:type="dcterms:W3CDTF">2010-04-09T07:36:15Z</dcterms:created>
  <dcterms:modified xsi:type="dcterms:W3CDTF">2026-04-25T21:19:49Z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